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6" r:id="rId2"/>
    <p:sldId id="306" r:id="rId3"/>
    <p:sldId id="336" r:id="rId4"/>
    <p:sldId id="337" r:id="rId5"/>
    <p:sldId id="338" r:id="rId6"/>
    <p:sldId id="307" r:id="rId7"/>
    <p:sldId id="309" r:id="rId8"/>
    <p:sldId id="315" r:id="rId9"/>
    <p:sldId id="355" r:id="rId10"/>
    <p:sldId id="256" r:id="rId11"/>
    <p:sldId id="257" r:id="rId12"/>
    <p:sldId id="258" r:id="rId13"/>
    <p:sldId id="259" r:id="rId14"/>
    <p:sldId id="260" r:id="rId15"/>
    <p:sldId id="261" r:id="rId16"/>
    <p:sldId id="298" r:id="rId17"/>
    <p:sldId id="311" r:id="rId18"/>
    <p:sldId id="266" r:id="rId19"/>
    <p:sldId id="343" r:id="rId20"/>
    <p:sldId id="276" r:id="rId21"/>
    <p:sldId id="349" r:id="rId22"/>
    <p:sldId id="262" r:id="rId23"/>
    <p:sldId id="270" r:id="rId24"/>
    <p:sldId id="271" r:id="rId25"/>
    <p:sldId id="277" r:id="rId26"/>
    <p:sldId id="267" r:id="rId27"/>
    <p:sldId id="269" r:id="rId28"/>
    <p:sldId id="268" r:id="rId29"/>
    <p:sldId id="290" r:id="rId30"/>
    <p:sldId id="272" r:id="rId31"/>
    <p:sldId id="263" r:id="rId32"/>
    <p:sldId id="264" r:id="rId33"/>
    <p:sldId id="265" r:id="rId34"/>
    <p:sldId id="273" r:id="rId35"/>
    <p:sldId id="274" r:id="rId36"/>
    <p:sldId id="275" r:id="rId37"/>
    <p:sldId id="278" r:id="rId38"/>
    <p:sldId id="292" r:id="rId39"/>
    <p:sldId id="281" r:id="rId40"/>
    <p:sldId id="279" r:id="rId41"/>
    <p:sldId id="294" r:id="rId42"/>
    <p:sldId id="284" r:id="rId43"/>
    <p:sldId id="301" r:id="rId44"/>
    <p:sldId id="285" r:id="rId45"/>
    <p:sldId id="297" r:id="rId46"/>
    <p:sldId id="291" r:id="rId47"/>
    <p:sldId id="286" r:id="rId48"/>
    <p:sldId id="287" r:id="rId49"/>
    <p:sldId id="288" r:id="rId50"/>
    <p:sldId id="289" r:id="rId51"/>
    <p:sldId id="299" r:id="rId52"/>
    <p:sldId id="310" r:id="rId53"/>
    <p:sldId id="295" r:id="rId54"/>
    <p:sldId id="296" r:id="rId55"/>
    <p:sldId id="319" r:id="rId56"/>
    <p:sldId id="300" r:id="rId57"/>
    <p:sldId id="318" r:id="rId58"/>
    <p:sldId id="317" r:id="rId59"/>
    <p:sldId id="302" r:id="rId60"/>
    <p:sldId id="304" r:id="rId61"/>
    <p:sldId id="316" r:id="rId62"/>
    <p:sldId id="350" r:id="rId63"/>
    <p:sldId id="352" r:id="rId64"/>
    <p:sldId id="351" r:id="rId65"/>
    <p:sldId id="353" r:id="rId66"/>
    <p:sldId id="312" r:id="rId67"/>
    <p:sldId id="313" r:id="rId68"/>
    <p:sldId id="314" r:id="rId69"/>
    <p:sldId id="320" r:id="rId70"/>
    <p:sldId id="321" r:id="rId71"/>
    <p:sldId id="323" r:id="rId72"/>
    <p:sldId id="322" r:id="rId73"/>
    <p:sldId id="333" r:id="rId74"/>
    <p:sldId id="335" r:id="rId75"/>
    <p:sldId id="334" r:id="rId76"/>
    <p:sldId id="325" r:id="rId77"/>
    <p:sldId id="326" r:id="rId78"/>
    <p:sldId id="324" r:id="rId79"/>
    <p:sldId id="327" r:id="rId80"/>
    <p:sldId id="328" r:id="rId81"/>
    <p:sldId id="329" r:id="rId82"/>
    <p:sldId id="330" r:id="rId83"/>
    <p:sldId id="332" r:id="rId84"/>
    <p:sldId id="331" r:id="rId85"/>
    <p:sldId id="339" r:id="rId86"/>
    <p:sldId id="340" r:id="rId87"/>
    <p:sldId id="341" r:id="rId88"/>
    <p:sldId id="342" r:id="rId89"/>
    <p:sldId id="354" r:id="rId90"/>
    <p:sldId id="344" r:id="rId91"/>
    <p:sldId id="345" r:id="rId92"/>
    <p:sldId id="348" r:id="rId93"/>
    <p:sldId id="347" r:id="rId9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31" autoAdjust="0"/>
    <p:restoredTop sz="84677" autoAdjust="0"/>
  </p:normalViewPr>
  <p:slideViewPr>
    <p:cSldViewPr>
      <p:cViewPr varScale="1">
        <p:scale>
          <a:sx n="81" d="100"/>
          <a:sy n="81" d="100"/>
        </p:scale>
        <p:origin x="4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D97E8-C115-445F-8DB8-300ECB420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C3227-A701-408C-8C7D-9721FE5AF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18CD6-FCB5-448E-98F4-2AB4FC2D77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74A3D-B2A7-4805-8FD1-E5940FE01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2311D-02F0-4FA0-9D5D-4D314546BA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5BBA4-8292-4D71-AD23-243A82DEC9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F07862-DA0A-4547-BA38-2E83FF0FC1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16F1A-6B85-4EF8-A8BA-23712BDB8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DDE8B-D8A7-4EC9-B733-F3AC51B077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B390A-CF23-4F42-A983-24816BE63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A14CA-4844-4510-A185-8811F3411F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DD1F2D0-2BD9-4150-B527-9C225754C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numerics.tensors.ireadonlytensor" TargetMode="External"/><Relationship Id="rId2" Type="http://schemas.openxmlformats.org/officeDocument/2006/relationships/hyperlink" Target="https://learn.microsoft.com/en-us/dotnet/api/system.numerics.tens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dotnet/standard/generics/mat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yacas.sourceforge.net/" TargetMode="External"/><Relationship Id="rId2" Type="http://schemas.openxmlformats.org/officeDocument/2006/relationships/hyperlink" Target="http://axiom-developer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krum.rz.uni-mannheim.de/jas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E59D-CDA4-1591-EEA9-0554206E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de-DE" dirty="0"/>
              <a:t>.NET </a:t>
            </a:r>
            <a:r>
              <a:rPr lang="de-DE"/>
              <a:t>Tensor </a:t>
            </a:r>
            <a:br>
              <a:rPr lang="de-DE"/>
            </a:br>
            <a:r>
              <a:rPr lang="de-DE"/>
              <a:t>and </a:t>
            </a:r>
            <a:r>
              <a:rPr lang="de-DE" dirty="0" err="1"/>
              <a:t>Geometric</a:t>
            </a:r>
            <a:r>
              <a:rPr lang="de-DE" dirty="0"/>
              <a:t> Algebra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9A48-A7F8-77F4-4090-766C9EE2A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544036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hlinkClick r:id="rId2"/>
              </a:rPr>
              <a:t>System.Numerics.Tensors</a:t>
            </a:r>
            <a:r>
              <a:rPr lang="en-US" dirty="0"/>
              <a:t> namespace now includes a nongeneric interface, </a:t>
            </a:r>
            <a:r>
              <a:rPr lang="en-US" dirty="0" err="1">
                <a:hlinkClick r:id="rId3"/>
              </a:rPr>
              <a:t>IReadOnlyTensor</a:t>
            </a:r>
            <a:r>
              <a:rPr lang="en-US" dirty="0"/>
              <a:t> </a:t>
            </a:r>
          </a:p>
          <a:p>
            <a:r>
              <a:rPr lang="en-US" dirty="0"/>
              <a:t>If T implements the relevant </a:t>
            </a:r>
            <a:r>
              <a:rPr lang="en-US" dirty="0">
                <a:hlinkClick r:id="rId4"/>
              </a:rPr>
              <a:t>generic math</a:t>
            </a:r>
            <a:r>
              <a:rPr lang="en-US" dirty="0"/>
              <a:t> interfaces, e.g. </a:t>
            </a:r>
            <a:r>
              <a:rPr lang="en-US" dirty="0" err="1"/>
              <a:t>IAdditionOperators</a:t>
            </a:r>
            <a:r>
              <a:rPr lang="en-US" dirty="0"/>
              <a:t>&lt;</a:t>
            </a:r>
            <a:r>
              <a:rPr lang="en-US" dirty="0" err="1"/>
              <a:t>TSelf</a:t>
            </a:r>
            <a:r>
              <a:rPr lang="en-US" dirty="0"/>
              <a:t>, </a:t>
            </a:r>
            <a:r>
              <a:rPr lang="en-US" dirty="0" err="1"/>
              <a:t>TOther</a:t>
            </a:r>
            <a:r>
              <a:rPr lang="en-US" dirty="0"/>
              <a:t>, </a:t>
            </a:r>
            <a:r>
              <a:rPr lang="en-US" dirty="0" err="1"/>
              <a:t>TResult</a:t>
            </a:r>
            <a:r>
              <a:rPr lang="en-US" dirty="0"/>
              <a:t>&gt; or </a:t>
            </a:r>
            <a:r>
              <a:rPr lang="en-US" dirty="0" err="1"/>
              <a:t>INumber</a:t>
            </a:r>
            <a:r>
              <a:rPr lang="en-US" dirty="0"/>
              <a:t>&lt;</a:t>
            </a:r>
            <a:r>
              <a:rPr lang="en-US" dirty="0" err="1"/>
              <a:t>TSelf</a:t>
            </a:r>
            <a:r>
              <a:rPr lang="en-US" dirty="0"/>
              <a:t>&gt;, the operation is supported on </a:t>
            </a:r>
            <a:r>
              <a:rPr lang="en-US" dirty="0" err="1"/>
              <a:t>ITensor</a:t>
            </a:r>
            <a:r>
              <a:rPr lang="en-US" dirty="0"/>
              <a:t>&lt;T&gt;. </a:t>
            </a:r>
          </a:p>
          <a:p>
            <a:r>
              <a:rPr lang="en-US" dirty="0" err="1"/>
              <a:t>numPys</a:t>
            </a:r>
            <a:r>
              <a:rPr lang="en-US" dirty="0"/>
              <a:t> </a:t>
            </a:r>
            <a:r>
              <a:rPr lang="en-US" dirty="0" err="1"/>
              <a:t>ndarray</a:t>
            </a:r>
            <a:r>
              <a:rPr lang="en-US" dirty="0"/>
              <a:t> stands for N-dim. Array </a:t>
            </a:r>
          </a:p>
          <a:p>
            <a:pPr lvl="1"/>
            <a:r>
              <a:rPr lang="en-US" dirty="0"/>
              <a:t>Shape Property </a:t>
            </a:r>
            <a:r>
              <a:rPr lang="en-US" dirty="0" err="1"/>
              <a:t>mit</a:t>
            </a:r>
            <a:r>
              <a:rPr lang="en-US" dirty="0"/>
              <a:t> Start/End Index, length = Tensor Rank </a:t>
            </a:r>
          </a:p>
          <a:p>
            <a:pPr lvl="1"/>
            <a:r>
              <a:rPr lang="en-US"/>
              <a:t>Element Type </a:t>
            </a:r>
            <a:r>
              <a:rPr lang="en-US" dirty="0"/>
              <a:t>has to be consistent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5917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0"/>
          <p:cNvSpPr>
            <a:spLocks noChangeArrowheads="1"/>
          </p:cNvSpPr>
          <p:nvPr/>
        </p:nvSpPr>
        <p:spPr bwMode="auto">
          <a:xfrm>
            <a:off x="1331913" y="4076700"/>
            <a:ext cx="2663825" cy="1728788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14" name="Rectangle 7"/>
          <p:cNvSpPr>
            <a:spLocks noChangeArrowheads="1"/>
          </p:cNvSpPr>
          <p:nvPr/>
        </p:nvSpPr>
        <p:spPr bwMode="auto">
          <a:xfrm>
            <a:off x="4235450" y="4149725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functions</a:t>
            </a:r>
            <a:endParaRPr lang="de-DE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/>
              <a:t>Package Structure</a:t>
            </a:r>
            <a:endParaRPr lang="de-DE"/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3276600" y="1196975"/>
            <a:ext cx="6699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root</a:t>
            </a:r>
            <a:endParaRPr lang="de-DE"/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3011488" y="1844675"/>
            <a:ext cx="12001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iFunctions</a:t>
            </a:r>
            <a:endParaRPr lang="de-DE"/>
          </a:p>
        </p:txBody>
      </p:sp>
      <p:sp>
        <p:nvSpPr>
          <p:cNvPr id="13318" name="Rectangle 8"/>
          <p:cNvSpPr>
            <a:spLocks noChangeArrowheads="1"/>
          </p:cNvSpPr>
          <p:nvPr/>
        </p:nvSpPr>
        <p:spPr bwMode="auto">
          <a:xfrm>
            <a:off x="4376738" y="1844675"/>
            <a:ext cx="7715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iBool</a:t>
            </a:r>
            <a:endParaRPr lang="de-DE"/>
          </a:p>
        </p:txBody>
      </p:sp>
      <p:sp>
        <p:nvSpPr>
          <p:cNvPr id="13319" name="Rectangle 9"/>
          <p:cNvSpPr>
            <a:spLocks noChangeArrowheads="1"/>
          </p:cNvSpPr>
          <p:nvPr/>
        </p:nvSpPr>
        <p:spPr bwMode="auto">
          <a:xfrm>
            <a:off x="3224213" y="2471738"/>
            <a:ext cx="7715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iMath</a:t>
            </a:r>
            <a:endParaRPr lang="de-DE"/>
          </a:p>
        </p:txBody>
      </p:sp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4235450" y="3141663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quantities</a:t>
            </a:r>
            <a:endParaRPr lang="de-DE"/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>
            <a:off x="2867025" y="3141663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scalars</a:t>
            </a:r>
            <a:endParaRPr lang="de-DE"/>
          </a:p>
        </p:txBody>
      </p:sp>
      <p:sp>
        <p:nvSpPr>
          <p:cNvPr id="13322" name="Rectangle 13"/>
          <p:cNvSpPr>
            <a:spLocks noChangeArrowheads="1"/>
          </p:cNvSpPr>
          <p:nvPr/>
        </p:nvSpPr>
        <p:spPr bwMode="auto">
          <a:xfrm>
            <a:off x="5508625" y="4149725"/>
            <a:ext cx="6286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unit</a:t>
            </a:r>
            <a:endParaRPr lang="de-DE"/>
          </a:p>
        </p:txBody>
      </p:sp>
      <p:sp>
        <p:nvSpPr>
          <p:cNvPr id="13323" name="Rectangle 14"/>
          <p:cNvSpPr>
            <a:spLocks noChangeArrowheads="1"/>
          </p:cNvSpPr>
          <p:nvPr/>
        </p:nvSpPr>
        <p:spPr bwMode="auto">
          <a:xfrm>
            <a:off x="5508625" y="4870450"/>
            <a:ext cx="6286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units</a:t>
            </a:r>
            <a:endParaRPr lang="de-DE"/>
          </a:p>
        </p:txBody>
      </p:sp>
      <p:sp>
        <p:nvSpPr>
          <p:cNvPr id="13324" name="Rectangle 15"/>
          <p:cNvSpPr>
            <a:spLocks noChangeArrowheads="1"/>
          </p:cNvSpPr>
          <p:nvPr/>
        </p:nvSpPr>
        <p:spPr bwMode="auto">
          <a:xfrm>
            <a:off x="1403350" y="4149725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vectors</a:t>
            </a:r>
            <a:endParaRPr lang="de-DE"/>
          </a:p>
        </p:txBody>
      </p:sp>
      <p:cxnSp>
        <p:nvCxnSpPr>
          <p:cNvPr id="13325" name="AutoShape 16"/>
          <p:cNvCxnSpPr>
            <a:cxnSpLocks noChangeShapeType="1"/>
            <a:stCxn id="13323" idx="0"/>
            <a:endCxn id="13322" idx="2"/>
          </p:cNvCxnSpPr>
          <p:nvPr/>
        </p:nvCxnSpPr>
        <p:spPr bwMode="auto">
          <a:xfrm flipV="1">
            <a:off x="5822950" y="4530725"/>
            <a:ext cx="0" cy="339725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26" name="Rectangle 17"/>
          <p:cNvSpPr>
            <a:spLocks noChangeArrowheads="1"/>
          </p:cNvSpPr>
          <p:nvPr/>
        </p:nvSpPr>
        <p:spPr bwMode="auto">
          <a:xfrm>
            <a:off x="4376738" y="2471738"/>
            <a:ext cx="7715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aMath</a:t>
            </a:r>
            <a:endParaRPr lang="de-DE"/>
          </a:p>
        </p:txBody>
      </p:sp>
      <p:cxnSp>
        <p:nvCxnSpPr>
          <p:cNvPr id="13327" name="AutoShape 18"/>
          <p:cNvCxnSpPr>
            <a:cxnSpLocks noChangeShapeType="1"/>
            <a:stCxn id="13326" idx="1"/>
            <a:endCxn id="13319" idx="3"/>
          </p:cNvCxnSpPr>
          <p:nvPr/>
        </p:nvCxnSpPr>
        <p:spPr bwMode="auto">
          <a:xfrm flipH="1">
            <a:off x="3995738" y="2662238"/>
            <a:ext cx="381000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28" name="AutoShape 19"/>
          <p:cNvCxnSpPr>
            <a:cxnSpLocks noChangeShapeType="1"/>
            <a:stCxn id="13318" idx="0"/>
            <a:endCxn id="13316" idx="3"/>
          </p:cNvCxnSpPr>
          <p:nvPr/>
        </p:nvCxnSpPr>
        <p:spPr bwMode="auto">
          <a:xfrm flipH="1" flipV="1">
            <a:off x="3946525" y="1387475"/>
            <a:ext cx="815975" cy="4572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29" name="AutoShape 21"/>
          <p:cNvCxnSpPr>
            <a:cxnSpLocks noChangeShapeType="1"/>
            <a:stCxn id="13317" idx="0"/>
            <a:endCxn id="13316" idx="2"/>
          </p:cNvCxnSpPr>
          <p:nvPr/>
        </p:nvCxnSpPr>
        <p:spPr bwMode="auto">
          <a:xfrm flipV="1">
            <a:off x="3611563" y="1577975"/>
            <a:ext cx="0" cy="2667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0" name="AutoShape 22"/>
          <p:cNvCxnSpPr>
            <a:cxnSpLocks noChangeShapeType="1"/>
            <a:stCxn id="13319" idx="3"/>
            <a:endCxn id="13318" idx="2"/>
          </p:cNvCxnSpPr>
          <p:nvPr/>
        </p:nvCxnSpPr>
        <p:spPr bwMode="auto">
          <a:xfrm flipV="1">
            <a:off x="3995738" y="2225675"/>
            <a:ext cx="766762" cy="4365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1" name="AutoShape 23"/>
          <p:cNvCxnSpPr>
            <a:cxnSpLocks noChangeShapeType="1"/>
            <a:stCxn id="13319" idx="0"/>
            <a:endCxn id="13317" idx="2"/>
          </p:cNvCxnSpPr>
          <p:nvPr/>
        </p:nvCxnSpPr>
        <p:spPr bwMode="auto">
          <a:xfrm flipV="1">
            <a:off x="3609975" y="2225675"/>
            <a:ext cx="1588" cy="2460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2" name="AutoShape 18"/>
          <p:cNvCxnSpPr>
            <a:cxnSpLocks noChangeShapeType="1"/>
            <a:stCxn id="13326" idx="0"/>
            <a:endCxn id="13318" idx="2"/>
          </p:cNvCxnSpPr>
          <p:nvPr/>
        </p:nvCxnSpPr>
        <p:spPr bwMode="auto">
          <a:xfrm flipV="1">
            <a:off x="4762500" y="2225675"/>
            <a:ext cx="0" cy="2460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3" name="AutoShape 18"/>
          <p:cNvCxnSpPr>
            <a:cxnSpLocks noChangeShapeType="1"/>
            <a:stCxn id="13314" idx="0"/>
            <a:endCxn id="13320" idx="2"/>
          </p:cNvCxnSpPr>
          <p:nvPr/>
        </p:nvCxnSpPr>
        <p:spPr bwMode="auto">
          <a:xfrm flipV="1">
            <a:off x="4764088" y="3522663"/>
            <a:ext cx="0" cy="627062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4" name="AutoShape 18"/>
          <p:cNvCxnSpPr>
            <a:cxnSpLocks noChangeShapeType="1"/>
            <a:stCxn id="13320" idx="0"/>
            <a:endCxn id="13326" idx="2"/>
          </p:cNvCxnSpPr>
          <p:nvPr/>
        </p:nvCxnSpPr>
        <p:spPr bwMode="auto">
          <a:xfrm flipH="1" flipV="1">
            <a:off x="4762500" y="2852738"/>
            <a:ext cx="1588" cy="288925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5" name="AutoShape 18"/>
          <p:cNvCxnSpPr>
            <a:cxnSpLocks noChangeShapeType="1"/>
            <a:stCxn id="13321" idx="3"/>
            <a:endCxn id="13320" idx="1"/>
          </p:cNvCxnSpPr>
          <p:nvPr/>
        </p:nvCxnSpPr>
        <p:spPr bwMode="auto">
          <a:xfrm>
            <a:off x="3924300" y="3332163"/>
            <a:ext cx="311150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6" name="AutoShape 18"/>
          <p:cNvCxnSpPr>
            <a:cxnSpLocks noChangeShapeType="1"/>
            <a:stCxn id="13357" idx="0"/>
            <a:endCxn id="13321" idx="2"/>
          </p:cNvCxnSpPr>
          <p:nvPr/>
        </p:nvCxnSpPr>
        <p:spPr bwMode="auto">
          <a:xfrm flipV="1">
            <a:off x="3371850" y="3522663"/>
            <a:ext cx="23813" cy="627062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3337" name="AutoShape 18"/>
          <p:cNvCxnSpPr>
            <a:cxnSpLocks noChangeShapeType="1"/>
            <a:stCxn id="13322" idx="0"/>
            <a:endCxn id="13320" idx="2"/>
          </p:cNvCxnSpPr>
          <p:nvPr/>
        </p:nvCxnSpPr>
        <p:spPr bwMode="auto">
          <a:xfrm flipH="1" flipV="1">
            <a:off x="4764088" y="3522663"/>
            <a:ext cx="1058862" cy="627062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8" name="AutoShape 18"/>
          <p:cNvCxnSpPr>
            <a:cxnSpLocks noChangeShapeType="1"/>
            <a:stCxn id="13324" idx="3"/>
            <a:endCxn id="13357" idx="1"/>
          </p:cNvCxnSpPr>
          <p:nvPr/>
        </p:nvCxnSpPr>
        <p:spPr bwMode="auto">
          <a:xfrm>
            <a:off x="2460625" y="4340225"/>
            <a:ext cx="382588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39" name="AutoShape 18"/>
          <p:cNvCxnSpPr>
            <a:cxnSpLocks noChangeShapeType="1"/>
            <a:stCxn id="13357" idx="0"/>
            <a:endCxn id="13320" idx="2"/>
          </p:cNvCxnSpPr>
          <p:nvPr/>
        </p:nvCxnSpPr>
        <p:spPr bwMode="auto">
          <a:xfrm flipV="1">
            <a:off x="3371850" y="3522663"/>
            <a:ext cx="1392238" cy="627062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40" name="Text Box 31"/>
          <p:cNvSpPr txBox="1">
            <a:spLocks noChangeArrowheads="1"/>
          </p:cNvSpPr>
          <p:nvPr/>
        </p:nvSpPr>
        <p:spPr bwMode="auto">
          <a:xfrm>
            <a:off x="2268538" y="3500438"/>
            <a:ext cx="1085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Fourier</a:t>
            </a:r>
          </a:p>
          <a:p>
            <a:r>
              <a:rPr lang="en-US"/>
              <a:t>Complex</a:t>
            </a:r>
            <a:endParaRPr lang="de-DE"/>
          </a:p>
        </p:txBody>
      </p:sp>
      <p:sp>
        <p:nvSpPr>
          <p:cNvPr id="13341" name="Text Box 33"/>
          <p:cNvSpPr txBox="1">
            <a:spLocks noChangeArrowheads="1"/>
          </p:cNvSpPr>
          <p:nvPr/>
        </p:nvSpPr>
        <p:spPr bwMode="auto">
          <a:xfrm>
            <a:off x="3924300" y="4652963"/>
            <a:ext cx="755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Solve</a:t>
            </a:r>
            <a:endParaRPr lang="de-DE"/>
          </a:p>
        </p:txBody>
      </p:sp>
      <p:sp>
        <p:nvSpPr>
          <p:cNvPr id="13342" name="Rectangle 15"/>
          <p:cNvSpPr>
            <a:spLocks noChangeArrowheads="1"/>
          </p:cNvSpPr>
          <p:nvPr/>
        </p:nvSpPr>
        <p:spPr bwMode="auto">
          <a:xfrm>
            <a:off x="1403350" y="4797425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matrices</a:t>
            </a:r>
            <a:endParaRPr lang="de-DE"/>
          </a:p>
        </p:txBody>
      </p:sp>
      <p:cxnSp>
        <p:nvCxnSpPr>
          <p:cNvPr id="13343" name="AutoShape 18"/>
          <p:cNvCxnSpPr>
            <a:cxnSpLocks noChangeShapeType="1"/>
            <a:stCxn id="13342" idx="3"/>
            <a:endCxn id="13357" idx="1"/>
          </p:cNvCxnSpPr>
          <p:nvPr/>
        </p:nvCxnSpPr>
        <p:spPr bwMode="auto">
          <a:xfrm flipV="1">
            <a:off x="2460625" y="4340225"/>
            <a:ext cx="382588" cy="6477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44" name="AutoShape 18"/>
          <p:cNvCxnSpPr>
            <a:cxnSpLocks noChangeShapeType="1"/>
            <a:stCxn id="13342" idx="0"/>
            <a:endCxn id="13324" idx="2"/>
          </p:cNvCxnSpPr>
          <p:nvPr/>
        </p:nvCxnSpPr>
        <p:spPr bwMode="auto">
          <a:xfrm flipV="1">
            <a:off x="1931988" y="4530725"/>
            <a:ext cx="0" cy="2667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45" name="AutoShape 18"/>
          <p:cNvCxnSpPr>
            <a:cxnSpLocks noChangeShapeType="1"/>
            <a:stCxn id="13324" idx="0"/>
            <a:endCxn id="13321" idx="1"/>
          </p:cNvCxnSpPr>
          <p:nvPr/>
        </p:nvCxnSpPr>
        <p:spPr bwMode="auto">
          <a:xfrm flipV="1">
            <a:off x="1931988" y="3332163"/>
            <a:ext cx="935037" cy="817562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1081088" y="3638550"/>
            <a:ext cx="118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Imaginary</a:t>
            </a:r>
            <a:endParaRPr lang="de-DE"/>
          </a:p>
        </p:txBody>
      </p:sp>
      <p:sp>
        <p:nvSpPr>
          <p:cNvPr id="13347" name="Rectangle 39"/>
          <p:cNvSpPr>
            <a:spLocks noChangeArrowheads="1"/>
          </p:cNvSpPr>
          <p:nvPr/>
        </p:nvSpPr>
        <p:spPr bwMode="auto">
          <a:xfrm>
            <a:off x="1476375" y="5300663"/>
            <a:ext cx="2406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noProof="1"/>
              <a:t>#if FINALIZE_ARRAY</a:t>
            </a:r>
            <a:endParaRPr lang="de-DE"/>
          </a:p>
        </p:txBody>
      </p:sp>
      <p:sp>
        <p:nvSpPr>
          <p:cNvPr id="13348" name="Rectangle 15"/>
          <p:cNvSpPr>
            <a:spLocks noChangeArrowheads="1"/>
          </p:cNvSpPr>
          <p:nvPr/>
        </p:nvSpPr>
        <p:spPr bwMode="auto">
          <a:xfrm>
            <a:off x="4067175" y="6046788"/>
            <a:ext cx="13906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testVectors</a:t>
            </a:r>
            <a:endParaRPr lang="de-DE"/>
          </a:p>
        </p:txBody>
      </p:sp>
      <p:cxnSp>
        <p:nvCxnSpPr>
          <p:cNvPr id="13349" name="AutoShape 18"/>
          <p:cNvCxnSpPr>
            <a:cxnSpLocks noChangeShapeType="1"/>
            <a:stCxn id="13348" idx="0"/>
            <a:endCxn id="13323" idx="2"/>
          </p:cNvCxnSpPr>
          <p:nvPr/>
        </p:nvCxnSpPr>
        <p:spPr bwMode="auto">
          <a:xfrm flipV="1">
            <a:off x="4762500" y="5251450"/>
            <a:ext cx="1060450" cy="795338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3350" name="AutoShape 18"/>
          <p:cNvCxnSpPr>
            <a:cxnSpLocks noChangeShapeType="1"/>
            <a:stCxn id="13348" idx="0"/>
            <a:endCxn id="13324" idx="2"/>
          </p:cNvCxnSpPr>
          <p:nvPr/>
        </p:nvCxnSpPr>
        <p:spPr bwMode="auto">
          <a:xfrm flipH="1" flipV="1">
            <a:off x="1931988" y="4530725"/>
            <a:ext cx="2830512" cy="1516063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3351" name="AutoShape 18"/>
          <p:cNvCxnSpPr>
            <a:cxnSpLocks noChangeShapeType="1"/>
            <a:stCxn id="13348" idx="0"/>
            <a:endCxn id="13314" idx="2"/>
          </p:cNvCxnSpPr>
          <p:nvPr/>
        </p:nvCxnSpPr>
        <p:spPr bwMode="auto">
          <a:xfrm flipV="1">
            <a:off x="4762500" y="4530725"/>
            <a:ext cx="1588" cy="1516063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13352" name="Rectangle 5"/>
          <p:cNvSpPr>
            <a:spLocks noChangeArrowheads="1"/>
          </p:cNvSpPr>
          <p:nvPr/>
        </p:nvSpPr>
        <p:spPr bwMode="auto">
          <a:xfrm>
            <a:off x="1928813" y="1824038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stream</a:t>
            </a:r>
            <a:endParaRPr lang="de-DE"/>
          </a:p>
        </p:txBody>
      </p:sp>
      <p:sp>
        <p:nvSpPr>
          <p:cNvPr id="13353" name="Rectangle 6"/>
          <p:cNvSpPr>
            <a:spLocks noChangeArrowheads="1"/>
          </p:cNvSpPr>
          <p:nvPr/>
        </p:nvSpPr>
        <p:spPr bwMode="auto">
          <a:xfrm>
            <a:off x="1908175" y="2471738"/>
            <a:ext cx="9588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parser</a:t>
            </a:r>
            <a:endParaRPr lang="de-DE"/>
          </a:p>
        </p:txBody>
      </p:sp>
      <p:cxnSp>
        <p:nvCxnSpPr>
          <p:cNvPr id="13354" name="AutoShape 21"/>
          <p:cNvCxnSpPr>
            <a:cxnSpLocks noChangeShapeType="1"/>
            <a:stCxn id="13352" idx="0"/>
            <a:endCxn id="13316" idx="1"/>
          </p:cNvCxnSpPr>
          <p:nvPr/>
        </p:nvCxnSpPr>
        <p:spPr bwMode="auto">
          <a:xfrm flipV="1">
            <a:off x="2386013" y="1387475"/>
            <a:ext cx="890587" cy="4365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55" name="AutoShape 21"/>
          <p:cNvCxnSpPr>
            <a:cxnSpLocks noChangeShapeType="1"/>
            <a:stCxn id="13353" idx="0"/>
            <a:endCxn id="13317" idx="2"/>
          </p:cNvCxnSpPr>
          <p:nvPr/>
        </p:nvCxnSpPr>
        <p:spPr bwMode="auto">
          <a:xfrm flipV="1">
            <a:off x="2387600" y="2225675"/>
            <a:ext cx="1223963" cy="2460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3356" name="AutoShape 21"/>
          <p:cNvCxnSpPr>
            <a:cxnSpLocks noChangeShapeType="1"/>
            <a:stCxn id="13353" idx="0"/>
            <a:endCxn id="13352" idx="2"/>
          </p:cNvCxnSpPr>
          <p:nvPr/>
        </p:nvCxnSpPr>
        <p:spPr bwMode="auto">
          <a:xfrm flipH="1" flipV="1">
            <a:off x="2386013" y="2205038"/>
            <a:ext cx="1587" cy="2667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57" name="Rectangle 12"/>
          <p:cNvSpPr>
            <a:spLocks noChangeArrowheads="1"/>
          </p:cNvSpPr>
          <p:nvPr/>
        </p:nvSpPr>
        <p:spPr bwMode="auto">
          <a:xfrm>
            <a:off x="2843213" y="4149725"/>
            <a:ext cx="105727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tensors</a:t>
            </a:r>
            <a:endParaRPr lang="de-DE"/>
          </a:p>
        </p:txBody>
      </p:sp>
      <p:sp>
        <p:nvSpPr>
          <p:cNvPr id="13358" name="Rectangle 13"/>
          <p:cNvSpPr>
            <a:spLocks noChangeArrowheads="1"/>
          </p:cNvSpPr>
          <p:nvPr/>
        </p:nvSpPr>
        <p:spPr bwMode="auto">
          <a:xfrm>
            <a:off x="5940425" y="3119438"/>
            <a:ext cx="8223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ODEs</a:t>
            </a:r>
            <a:endParaRPr lang="de-DE"/>
          </a:p>
        </p:txBody>
      </p:sp>
      <p:cxnSp>
        <p:nvCxnSpPr>
          <p:cNvPr id="13359" name="AutoShape 18"/>
          <p:cNvCxnSpPr>
            <a:cxnSpLocks noChangeShapeType="1"/>
            <a:stCxn id="13358" idx="1"/>
            <a:endCxn id="13320" idx="3"/>
          </p:cNvCxnSpPr>
          <p:nvPr/>
        </p:nvCxnSpPr>
        <p:spPr bwMode="auto">
          <a:xfrm flipH="1">
            <a:off x="5292725" y="3309938"/>
            <a:ext cx="647700" cy="22225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60" name="Rectangle 13"/>
          <p:cNvSpPr>
            <a:spLocks noChangeArrowheads="1"/>
          </p:cNvSpPr>
          <p:nvPr/>
        </p:nvSpPr>
        <p:spPr bwMode="auto">
          <a:xfrm>
            <a:off x="5826125" y="3573463"/>
            <a:ext cx="10509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fixPoints</a:t>
            </a:r>
            <a:endParaRPr lang="de-DE"/>
          </a:p>
        </p:txBody>
      </p:sp>
      <p:cxnSp>
        <p:nvCxnSpPr>
          <p:cNvPr id="13361" name="AutoShape 18"/>
          <p:cNvCxnSpPr>
            <a:cxnSpLocks noChangeShapeType="1"/>
            <a:stCxn id="13360" idx="1"/>
            <a:endCxn id="13320" idx="3"/>
          </p:cNvCxnSpPr>
          <p:nvPr/>
        </p:nvCxnSpPr>
        <p:spPr bwMode="auto">
          <a:xfrm flipH="1" flipV="1">
            <a:off x="5292725" y="3332163"/>
            <a:ext cx="533400" cy="43180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62" name="Rectangle 8"/>
          <p:cNvSpPr>
            <a:spLocks noChangeArrowheads="1"/>
          </p:cNvSpPr>
          <p:nvPr/>
        </p:nvSpPr>
        <p:spPr bwMode="auto">
          <a:xfrm>
            <a:off x="5362575" y="1196975"/>
            <a:ext cx="7715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iGraph</a:t>
            </a:r>
            <a:endParaRPr lang="de-DE"/>
          </a:p>
        </p:txBody>
      </p:sp>
      <p:cxnSp>
        <p:nvCxnSpPr>
          <p:cNvPr id="13363" name="AutoShape 19"/>
          <p:cNvCxnSpPr>
            <a:cxnSpLocks noChangeShapeType="1"/>
            <a:stCxn id="13362" idx="1"/>
            <a:endCxn id="13316" idx="3"/>
          </p:cNvCxnSpPr>
          <p:nvPr/>
        </p:nvCxnSpPr>
        <p:spPr bwMode="auto">
          <a:xfrm flipH="1">
            <a:off x="3946525" y="1387475"/>
            <a:ext cx="1416050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64" name="Rectangle 8"/>
          <p:cNvSpPr>
            <a:spLocks noChangeArrowheads="1"/>
          </p:cNvSpPr>
          <p:nvPr/>
        </p:nvSpPr>
        <p:spPr bwMode="auto">
          <a:xfrm>
            <a:off x="6345238" y="1196975"/>
            <a:ext cx="12509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iContainers</a:t>
            </a:r>
            <a:endParaRPr lang="de-DE"/>
          </a:p>
        </p:txBody>
      </p:sp>
      <p:cxnSp>
        <p:nvCxnSpPr>
          <p:cNvPr id="13365" name="AutoShape 19"/>
          <p:cNvCxnSpPr>
            <a:cxnSpLocks noChangeShapeType="1"/>
            <a:stCxn id="13364" idx="1"/>
            <a:endCxn id="13362" idx="3"/>
          </p:cNvCxnSpPr>
          <p:nvPr/>
        </p:nvCxnSpPr>
        <p:spPr bwMode="auto">
          <a:xfrm flipH="1">
            <a:off x="6134100" y="1387475"/>
            <a:ext cx="211138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3366" name="Rectangle 5"/>
          <p:cNvSpPr>
            <a:spLocks noChangeArrowheads="1"/>
          </p:cNvSpPr>
          <p:nvPr/>
        </p:nvSpPr>
        <p:spPr bwMode="auto">
          <a:xfrm>
            <a:off x="920750" y="1201738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random</a:t>
            </a:r>
            <a:endParaRPr lang="de-DE"/>
          </a:p>
        </p:txBody>
      </p:sp>
      <p:cxnSp>
        <p:nvCxnSpPr>
          <p:cNvPr id="13367" name="AutoShape 21"/>
          <p:cNvCxnSpPr>
            <a:cxnSpLocks noChangeShapeType="1"/>
            <a:stCxn id="13366" idx="3"/>
            <a:endCxn id="13316" idx="1"/>
          </p:cNvCxnSpPr>
          <p:nvPr/>
        </p:nvCxnSpPr>
        <p:spPr bwMode="auto">
          <a:xfrm flipV="1">
            <a:off x="1835150" y="1387475"/>
            <a:ext cx="1441450" cy="4763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Mathematical Structures</a:t>
            </a:r>
            <a:endParaRPr lang="de-DE"/>
          </a:p>
        </p:txBody>
      </p:sp>
      <p:sp>
        <p:nvSpPr>
          <p:cNvPr id="1433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Algebraic Structures </a:t>
            </a:r>
            <a:br>
              <a:rPr lang="en-US"/>
            </a:br>
            <a:r>
              <a:rPr lang="en-US"/>
              <a:t>for Learning and Using </a:t>
            </a:r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/>
          <a:lstStyle/>
          <a:p>
            <a:r>
              <a:rPr lang="en-US"/>
              <a:t>Computer Algebra Systems (CAS)</a:t>
            </a:r>
            <a:endParaRPr lang="de-DE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Open Source: </a:t>
            </a:r>
          </a:p>
          <a:p>
            <a:r>
              <a:rPr lang="en-US"/>
              <a:t>Axiom (LISP) </a:t>
            </a:r>
            <a:r>
              <a:rPr lang="en-US">
                <a:hlinkClick r:id="rId2"/>
              </a:rPr>
              <a:t>http://axiom-developer.org</a:t>
            </a:r>
            <a:r>
              <a:rPr lang="en-US"/>
              <a:t> </a:t>
            </a:r>
          </a:p>
          <a:p>
            <a:r>
              <a:rPr lang="en-US"/>
              <a:t>Maxima / MacSyma (Lisp) </a:t>
            </a:r>
          </a:p>
          <a:p>
            <a:r>
              <a:rPr lang="en-US"/>
              <a:t>YaCas </a:t>
            </a:r>
            <a:r>
              <a:rPr lang="de-DE">
                <a:hlinkClick r:id="rId3"/>
              </a:rPr>
              <a:t>http://yacas.sourceforge.net</a:t>
            </a:r>
            <a:r>
              <a:rPr lang="de-DE"/>
              <a:t> </a:t>
            </a:r>
          </a:p>
          <a:p>
            <a:r>
              <a:rPr lang="en-US"/>
              <a:t>HartMath </a:t>
            </a:r>
          </a:p>
          <a:p>
            <a:r>
              <a:rPr lang="en-US"/>
              <a:t>JAS </a:t>
            </a:r>
            <a:r>
              <a:rPr lang="de-DE">
                <a:hlinkClick r:id="rId4"/>
              </a:rPr>
              <a:t>http://krum.rz.uni-mannheim.de/jas/</a:t>
            </a:r>
            <a:r>
              <a:rPr lang="de-DE"/>
              <a:t> </a:t>
            </a:r>
          </a:p>
          <a:p>
            <a:r>
              <a:rPr lang="en-US"/>
              <a:t>Octave (MathCAD Clone) </a:t>
            </a:r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/>
          <a:lstStyle/>
          <a:p>
            <a:r>
              <a:rPr lang="en-US"/>
              <a:t>Computer Algebra Systems (CAS)</a:t>
            </a:r>
            <a:endParaRPr lang="de-DE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Closed Source/Commercial: </a:t>
            </a:r>
          </a:p>
          <a:p>
            <a:r>
              <a:rPr lang="en-US"/>
              <a:t>Mathematica </a:t>
            </a:r>
          </a:p>
          <a:p>
            <a:r>
              <a:rPr lang="en-US"/>
              <a:t>Maple </a:t>
            </a:r>
          </a:p>
          <a:p>
            <a:r>
              <a:rPr lang="en-US"/>
              <a:t>MathCAD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Goals </a:t>
            </a:r>
            <a:endParaRPr lang="de-DE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71588"/>
            <a:ext cx="8785225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Capture Essence of mathematical Structures</a:t>
            </a:r>
          </a:p>
          <a:p>
            <a:pPr lvl="1">
              <a:lnSpc>
                <a:spcPct val="90000"/>
              </a:lnSpc>
            </a:pPr>
            <a:r>
              <a:rPr lang="en-US"/>
              <a:t>Granular Inheritance for proper Method Allocation </a:t>
            </a:r>
          </a:p>
          <a:p>
            <a:pPr lvl="1">
              <a:lnSpc>
                <a:spcPct val="90000"/>
              </a:lnSpc>
            </a:pPr>
            <a:r>
              <a:rPr lang="en-US"/>
              <a:t>Cleanly implement principal Algorithms </a:t>
            </a:r>
          </a:p>
          <a:p>
            <a:pPr lvl="2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</a:rPr>
              <a:t>Simplicity</a:t>
            </a:r>
            <a:r>
              <a:rPr lang="en-US"/>
              <a:t> over Performance </a:t>
            </a:r>
          </a:p>
          <a:p>
            <a:pPr lvl="1">
              <a:lnSpc>
                <a:spcPct val="90000"/>
              </a:lnSpc>
            </a:pPr>
            <a:r>
              <a:rPr lang="en-US"/>
              <a:t>Demonstrate </a:t>
            </a:r>
            <a:r>
              <a:rPr lang="en-US" b="1"/>
              <a:t>numerical</a:t>
            </a:r>
            <a:r>
              <a:rPr lang="en-US"/>
              <a:t> Capabilities </a:t>
            </a:r>
          </a:p>
          <a:p>
            <a:pPr lvl="2">
              <a:lnSpc>
                <a:spcPct val="90000"/>
              </a:lnSpc>
            </a:pPr>
            <a:r>
              <a:rPr lang="en-US"/>
              <a:t>Only limited symbolic Calculations (canonical Form) </a:t>
            </a:r>
          </a:p>
          <a:p>
            <a:pPr lvl="2">
              <a:lnSpc>
                <a:spcPct val="90000"/>
              </a:lnSpc>
            </a:pPr>
            <a:r>
              <a:rPr lang="en-US"/>
              <a:t>Numerical Solution suffers from limited Accuracy</a:t>
            </a:r>
          </a:p>
          <a:p>
            <a:pPr lvl="3">
              <a:lnSpc>
                <a:spcPct val="90000"/>
              </a:lnSpc>
            </a:pPr>
            <a:r>
              <a:rPr lang="en-US"/>
              <a:t>…but so does the Input and Output Data! </a:t>
            </a:r>
          </a:p>
          <a:p>
            <a:pPr lvl="3">
              <a:lnSpc>
                <a:spcPct val="90000"/>
              </a:lnSpc>
            </a:pPr>
            <a:r>
              <a:rPr lang="en-US"/>
              <a:t>Algorithms can be tailored to avoid numerical Instabilities </a:t>
            </a:r>
          </a:p>
          <a:p>
            <a:pPr lvl="2">
              <a:lnSpc>
                <a:spcPct val="90000"/>
              </a:lnSpc>
            </a:pPr>
            <a:r>
              <a:rPr lang="en-US"/>
              <a:t>Symbolic Solutions increase Accuracy and can speed up Evaluation (but only in very symmetric Cases) </a:t>
            </a:r>
          </a:p>
          <a:p>
            <a:pPr lvl="1">
              <a:lnSpc>
                <a:spcPct val="90000"/>
              </a:lnSpc>
            </a:pPr>
            <a:r>
              <a:rPr lang="en-US"/>
              <a:t>Limit Code Size! </a:t>
            </a:r>
            <a:r>
              <a:rPr lang="en-US">
                <a:sym typeface="Wingdings" pitchFamily="2" charset="2"/>
              </a:rPr>
              <a:t> reuse Algorithms for SPoCs</a:t>
            </a:r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813"/>
            <a:ext cx="8229600" cy="882650"/>
          </a:xfrm>
        </p:spPr>
        <p:txBody>
          <a:bodyPr/>
          <a:lstStyle/>
          <a:p>
            <a:r>
              <a:rPr lang="en-US"/>
              <a:t>Controversial Topics</a:t>
            </a:r>
            <a:endParaRPr lang="de-DE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3025"/>
            <a:ext cx="9144000" cy="5181600"/>
          </a:xfrm>
        </p:spPr>
        <p:txBody>
          <a:bodyPr/>
          <a:lstStyle/>
          <a:p>
            <a:r>
              <a:rPr lang="en-US"/>
              <a:t>Why so many (public) Methods (180)?</a:t>
            </a:r>
          </a:p>
          <a:p>
            <a:pPr lvl="1"/>
            <a:r>
              <a:rPr lang="en-US"/>
              <a:t>Many Overloads (int, double, AQuantity) </a:t>
            </a:r>
          </a:p>
          <a:p>
            <a:pPr lvl="1"/>
            <a:r>
              <a:rPr lang="en-US"/>
              <a:t>For High-Performance Overloads </a:t>
            </a:r>
          </a:p>
          <a:p>
            <a:pPr lvl="2"/>
            <a:r>
              <a:rPr lang="en-US"/>
              <a:t>inc(), dbl() or sqr() are faster than this += this; this *=this</a:t>
            </a:r>
          </a:p>
          <a:p>
            <a:pPr lvl="3"/>
            <a:r>
              <a:rPr lang="en-US"/>
              <a:t>They can exploit Symmetries (Rational, Polynom/gAdic) </a:t>
            </a:r>
          </a:p>
          <a:p>
            <a:r>
              <a:rPr lang="en-US"/>
              <a:t>Why an abstract Class? </a:t>
            </a:r>
          </a:p>
          <a:p>
            <a:pPr lvl="1"/>
            <a:r>
              <a:rPr lang="en-US"/>
              <a:t>Operator Overload </a:t>
            </a:r>
            <a:r>
              <a:rPr lang="en-US">
                <a:sym typeface="Wingdings" pitchFamily="2" charset="2"/>
              </a:rPr>
              <a:t> Readability </a:t>
            </a:r>
          </a:p>
          <a:p>
            <a:pPr lvl="1"/>
            <a:r>
              <a:rPr lang="en-US"/>
              <a:t>Less Overhead  </a:t>
            </a:r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04813"/>
            <a:ext cx="8229600" cy="882650"/>
          </a:xfrm>
        </p:spPr>
        <p:txBody>
          <a:bodyPr/>
          <a:lstStyle/>
          <a:p>
            <a:r>
              <a:rPr lang="en-US"/>
              <a:t>Controversial Topics</a:t>
            </a:r>
            <a:endParaRPr lang="de-DE"/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3025"/>
            <a:ext cx="9144000" cy="5181600"/>
          </a:xfrm>
        </p:spPr>
        <p:txBody>
          <a:bodyPr/>
          <a:lstStyle/>
          <a:p>
            <a:r>
              <a:rPr lang="en-US" dirty="0"/>
              <a:t>Why is Inheritance so deep? </a:t>
            </a:r>
          </a:p>
          <a:p>
            <a:pPr lvl="1"/>
            <a:r>
              <a:rPr lang="en-US" dirty="0"/>
              <a:t>To better reflect the detailed Structure </a:t>
            </a:r>
          </a:p>
          <a:p>
            <a:pPr lvl="2"/>
            <a:r>
              <a:rPr lang="en-US" dirty="0"/>
              <a:t>To reuse Implementation AND place it in the right Spot</a:t>
            </a:r>
          </a:p>
          <a:p>
            <a:pPr lvl="1"/>
            <a:r>
              <a:rPr lang="en-US" dirty="0"/>
              <a:t>Allows to easily add right-sized Implementations</a:t>
            </a:r>
          </a:p>
          <a:p>
            <a:pPr lvl="2"/>
            <a:r>
              <a:rPr lang="en-US" dirty="0"/>
              <a:t>Only program for the minimum Structure: </a:t>
            </a:r>
          </a:p>
          <a:p>
            <a:pPr lvl="3"/>
            <a:r>
              <a:rPr lang="en-US" dirty="0"/>
              <a:t>Order, Boolean Lattice, Group, Ring, Field etc. </a:t>
            </a:r>
          </a:p>
          <a:p>
            <a:pPr lvl="2"/>
            <a:r>
              <a:rPr lang="en-US" dirty="0"/>
              <a:t>Often though it is easier to map Objects to double, which implements most Interfaces AND Distributivity </a:t>
            </a:r>
          </a:p>
          <a:p>
            <a:pPr lvl="1"/>
            <a:r>
              <a:rPr lang="en-US" dirty="0"/>
              <a:t>WPF’s Controls’ Depth is also &gt;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831A-8980-C3B2-BCA3-11184CAF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Lattice Implementations 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E1222-726E-92A3-ADA4-83812AE70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4038600" cy="4525963"/>
          </a:xfrm>
        </p:spPr>
        <p:txBody>
          <a:bodyPr/>
          <a:lstStyle/>
          <a:p>
            <a:r>
              <a:rPr lang="en-US" dirty="0"/>
              <a:t>(Set, Union, Intersect) </a:t>
            </a:r>
          </a:p>
          <a:p>
            <a:r>
              <a:rPr lang="en-US" dirty="0"/>
              <a:t>Open Universe </a:t>
            </a:r>
            <a:br>
              <a:rPr lang="en-US" dirty="0"/>
            </a:br>
            <a:r>
              <a:rPr lang="en-US" dirty="0"/>
              <a:t>=&gt; no NOT, instead: Minus/</a:t>
            </a:r>
            <a:r>
              <a:rPr lang="en-US" b="1" dirty="0"/>
              <a:t>Remove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BitSet</a:t>
            </a:r>
            <a:r>
              <a:rPr lang="en-US" dirty="0"/>
              <a:t>, Union, Intersect) </a:t>
            </a:r>
          </a:p>
          <a:p>
            <a:r>
              <a:rPr lang="en-US" dirty="0"/>
              <a:t>&amp;&amp; checks for Min and || checks for Max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6D6B8F-E182-349B-6C42-858AFBC3F4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(Order, Max, Min)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41006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Design Alternatives</a:t>
            </a:r>
            <a:endParaRPr lang="en-US"/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713288"/>
          </a:xfrm>
        </p:spPr>
        <p:txBody>
          <a:bodyPr/>
          <a:lstStyle/>
          <a:p>
            <a:pPr eaLnBrk="1" hangingPunct="1"/>
            <a:r>
              <a:rPr lang="de-DE"/>
              <a:t>Traditional Inheritance: </a:t>
            </a:r>
          </a:p>
          <a:p>
            <a:pPr lvl="1" eaLnBrk="1" hangingPunct="1"/>
            <a:r>
              <a:rPr lang="de-DE"/>
              <a:t>Allows to inherit only in one Dimension</a:t>
            </a:r>
          </a:p>
          <a:p>
            <a:pPr lvl="1" eaLnBrk="1" hangingPunct="1"/>
            <a:r>
              <a:rPr lang="de-DE"/>
              <a:t>Mixing Dimensions (Interfaces) possible, but</a:t>
            </a:r>
          </a:p>
          <a:p>
            <a:pPr lvl="2" eaLnBrk="1" hangingPunct="1"/>
            <a:r>
              <a:rPr lang="de-DE"/>
              <a:t>Leads to Class Proliferation when combining </a:t>
            </a:r>
          </a:p>
          <a:p>
            <a:pPr lvl="2" eaLnBrk="1" hangingPunct="1"/>
            <a:r>
              <a:rPr lang="de-DE"/>
              <a:t>Template Method Pattern cannot be applied, thus abstract Algorithms have to be reimplemented or delegated to. </a:t>
            </a:r>
          </a:p>
          <a:p>
            <a:pPr eaLnBrk="1" hangingPunct="1"/>
            <a:r>
              <a:rPr lang="de-DE"/>
              <a:t>The Bridge Pattern allows mixing Class Hierarchies by simplifying Implementation.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Simple Template Method</a:t>
            </a:r>
            <a:endParaRPr lang="en-US"/>
          </a:p>
        </p:txBody>
      </p:sp>
      <p:sp>
        <p:nvSpPr>
          <p:cNvPr id="21506" name="Rectangle 6"/>
          <p:cNvSpPr>
            <a:spLocks noChangeArrowheads="1"/>
          </p:cNvSpPr>
          <p:nvPr/>
        </p:nvSpPr>
        <p:spPr bwMode="auto">
          <a:xfrm>
            <a:off x="355600" y="1557338"/>
            <a:ext cx="15843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IInterface</a:t>
            </a:r>
            <a:endParaRPr lang="en-US"/>
          </a:p>
        </p:txBody>
      </p:sp>
      <p:sp>
        <p:nvSpPr>
          <p:cNvPr id="21507" name="Rectangle 7"/>
          <p:cNvSpPr>
            <a:spLocks noChangeArrowheads="1"/>
          </p:cNvSpPr>
          <p:nvPr/>
        </p:nvSpPr>
        <p:spPr bwMode="auto">
          <a:xfrm>
            <a:off x="355600" y="2276475"/>
            <a:ext cx="15843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Interface</a:t>
            </a:r>
            <a:endParaRPr lang="en-US"/>
          </a:p>
        </p:txBody>
      </p:sp>
      <p:sp>
        <p:nvSpPr>
          <p:cNvPr id="21508" name="Rectangle 8"/>
          <p:cNvSpPr>
            <a:spLocks noChangeArrowheads="1"/>
          </p:cNvSpPr>
          <p:nvPr/>
        </p:nvSpPr>
        <p:spPr bwMode="auto">
          <a:xfrm>
            <a:off x="355600" y="2998788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Abstraction</a:t>
            </a:r>
            <a:endParaRPr lang="en-US"/>
          </a:p>
        </p:txBody>
      </p:sp>
      <p:sp>
        <p:nvSpPr>
          <p:cNvPr id="21509" name="Rectangle 9"/>
          <p:cNvSpPr>
            <a:spLocks noChangeArrowheads="1"/>
          </p:cNvSpPr>
          <p:nvPr/>
        </p:nvSpPr>
        <p:spPr bwMode="auto">
          <a:xfrm>
            <a:off x="355600" y="3717925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Implementation</a:t>
            </a:r>
            <a:endParaRPr lang="en-US"/>
          </a:p>
        </p:txBody>
      </p:sp>
      <p:cxnSp>
        <p:nvCxnSpPr>
          <p:cNvPr id="21510" name="AutoShape 10"/>
          <p:cNvCxnSpPr>
            <a:cxnSpLocks noChangeShapeType="1"/>
            <a:stCxn id="21507" idx="0"/>
            <a:endCxn id="21506" idx="2"/>
          </p:cNvCxnSpPr>
          <p:nvPr/>
        </p:nvCxnSpPr>
        <p:spPr bwMode="auto">
          <a:xfrm flipV="1">
            <a:off x="1147763" y="1916113"/>
            <a:ext cx="0" cy="3603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511" name="AutoShape 11"/>
          <p:cNvCxnSpPr>
            <a:cxnSpLocks noChangeShapeType="1"/>
            <a:stCxn id="21508" idx="0"/>
            <a:endCxn id="21507" idx="2"/>
          </p:cNvCxnSpPr>
          <p:nvPr/>
        </p:nvCxnSpPr>
        <p:spPr bwMode="auto">
          <a:xfrm flipV="1">
            <a:off x="1147763" y="2635250"/>
            <a:ext cx="0" cy="3635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512" name="AutoShape 12"/>
          <p:cNvCxnSpPr>
            <a:cxnSpLocks noChangeShapeType="1"/>
            <a:stCxn id="21509" idx="0"/>
            <a:endCxn id="21508" idx="2"/>
          </p:cNvCxnSpPr>
          <p:nvPr/>
        </p:nvCxnSpPr>
        <p:spPr bwMode="auto">
          <a:xfrm flipV="1">
            <a:off x="1147763" y="3357563"/>
            <a:ext cx="0" cy="3603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1513" name="Text Box 13"/>
          <p:cNvSpPr txBox="1">
            <a:spLocks noChangeArrowheads="1"/>
          </p:cNvSpPr>
          <p:nvPr/>
        </p:nvSpPr>
        <p:spPr bwMode="auto">
          <a:xfrm>
            <a:off x="2208213" y="1576388"/>
            <a:ext cx="5810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Defines the minimum Interface, i.e. primitive Operations</a:t>
            </a:r>
            <a:endParaRPr lang="en-US"/>
          </a:p>
        </p:txBody>
      </p:sp>
      <p:sp>
        <p:nvSpPr>
          <p:cNvPr id="21514" name="Text Box 15"/>
          <p:cNvSpPr txBox="1">
            <a:spLocks noChangeArrowheads="1"/>
          </p:cNvSpPr>
          <p:nvPr/>
        </p:nvSpPr>
        <p:spPr bwMode="auto">
          <a:xfrm>
            <a:off x="2227263" y="2270125"/>
            <a:ext cx="6216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Defines the full functional Interface, i.e. complex Operations</a:t>
            </a:r>
            <a:endParaRPr lang="en-US"/>
          </a:p>
        </p:txBody>
      </p:sp>
      <p:sp>
        <p:nvSpPr>
          <p:cNvPr id="21515" name="Text Box 16"/>
          <p:cNvSpPr txBox="1">
            <a:spLocks noChangeArrowheads="1"/>
          </p:cNvSpPr>
          <p:nvPr/>
        </p:nvSpPr>
        <p:spPr bwMode="auto">
          <a:xfrm>
            <a:off x="2227263" y="2852738"/>
            <a:ext cx="673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Implements the complex Operations using ‚this‘. </a:t>
            </a:r>
          </a:p>
          <a:p>
            <a:r>
              <a:rPr lang="de-DE"/>
              <a:t>Implementation can be static to allow Reuse across Hierarchies. </a:t>
            </a:r>
            <a:endParaRPr lang="en-US"/>
          </a:p>
        </p:txBody>
      </p:sp>
      <p:sp>
        <p:nvSpPr>
          <p:cNvPr id="21516" name="Rectangle 17"/>
          <p:cNvSpPr>
            <a:spLocks noChangeArrowheads="1"/>
          </p:cNvSpPr>
          <p:nvPr/>
        </p:nvSpPr>
        <p:spPr bwMode="auto">
          <a:xfrm>
            <a:off x="2273300" y="3709988"/>
            <a:ext cx="3905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Implements the primitive Operations </a:t>
            </a:r>
            <a:endParaRPr lang="en-US"/>
          </a:p>
        </p:txBody>
      </p:sp>
      <p:sp>
        <p:nvSpPr>
          <p:cNvPr id="21517" name="Text Box 18"/>
          <p:cNvSpPr txBox="1">
            <a:spLocks noChangeArrowheads="1"/>
          </p:cNvSpPr>
          <p:nvPr/>
        </p:nvSpPr>
        <p:spPr bwMode="auto">
          <a:xfrm>
            <a:off x="376238" y="4365625"/>
            <a:ext cx="859155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One Problem with OO Designs is that Implementations can only be shared </a:t>
            </a:r>
            <a:br>
              <a:rPr lang="de-DE"/>
            </a:br>
            <a:r>
              <a:rPr lang="de-DE"/>
              <a:t>within the same Inheritance Hierarchy, but not across them. </a:t>
            </a:r>
          </a:p>
          <a:p>
            <a:r>
              <a:rPr lang="de-DE"/>
              <a:t>Static Methods taking the ‚this‘ Parameter explicitly can be used to bridge, </a:t>
            </a:r>
            <a:br>
              <a:rPr lang="de-DE"/>
            </a:br>
            <a:r>
              <a:rPr lang="de-DE"/>
              <a:t>(but only when having access to it‘s Members). This is a „Functional‘ Design! </a:t>
            </a:r>
          </a:p>
          <a:p>
            <a:r>
              <a:rPr lang="de-DE"/>
              <a:t>The Bridge Pattern makes this more intuitive by delegating all primitive Methods</a:t>
            </a:r>
            <a:br>
              <a:rPr lang="de-DE"/>
            </a:br>
            <a:r>
              <a:rPr lang="de-DE"/>
              <a:t>to the Member of a different Hierarchy. </a:t>
            </a:r>
          </a:p>
          <a:p>
            <a:r>
              <a:rPr lang="de-DE"/>
              <a:t>When this Object is hidden by the Bridge Instance, it ‚looks‘ like a normal ‚Interface‘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0"/>
          <p:cNvSpPr>
            <a:spLocks noChangeArrowheads="1"/>
          </p:cNvSpPr>
          <p:nvPr/>
        </p:nvSpPr>
        <p:spPr bwMode="auto">
          <a:xfrm>
            <a:off x="2268538" y="2638425"/>
            <a:ext cx="3598862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4000"/>
              <a:t>Simple Bridge Delegation Pattern</a:t>
            </a:r>
            <a:endParaRPr lang="en-US" sz="400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2300288" y="1412875"/>
            <a:ext cx="15843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IInterface</a:t>
            </a:r>
            <a:endParaRPr lang="en-US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4211638" y="1412875"/>
            <a:ext cx="15843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Interface</a:t>
            </a:r>
            <a:endParaRPr lang="en-US"/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4211638" y="2709863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Bridge</a:t>
            </a:r>
            <a:endParaRPr lang="en-US"/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2300288" y="2708275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Implementation</a:t>
            </a:r>
            <a:endParaRPr lang="en-US"/>
          </a:p>
        </p:txBody>
      </p:sp>
      <p:cxnSp>
        <p:nvCxnSpPr>
          <p:cNvPr id="22535" name="AutoShape 8"/>
          <p:cNvCxnSpPr>
            <a:cxnSpLocks noChangeShapeType="1"/>
            <a:stCxn id="22532" idx="1"/>
            <a:endCxn id="22531" idx="3"/>
          </p:cNvCxnSpPr>
          <p:nvPr/>
        </p:nvCxnSpPr>
        <p:spPr bwMode="auto">
          <a:xfrm flipH="1">
            <a:off x="3884613" y="1592263"/>
            <a:ext cx="32702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2536" name="AutoShape 9"/>
          <p:cNvCxnSpPr>
            <a:cxnSpLocks noChangeShapeType="1"/>
            <a:stCxn id="22533" idx="0"/>
            <a:endCxn id="22547" idx="2"/>
          </p:cNvCxnSpPr>
          <p:nvPr/>
        </p:nvCxnSpPr>
        <p:spPr bwMode="auto">
          <a:xfrm flipV="1">
            <a:off x="5003800" y="2419350"/>
            <a:ext cx="0" cy="2905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2537" name="AutoShape 10"/>
          <p:cNvCxnSpPr>
            <a:cxnSpLocks noChangeShapeType="1"/>
            <a:stCxn id="22534" idx="3"/>
            <a:endCxn id="22533" idx="1"/>
          </p:cNvCxnSpPr>
          <p:nvPr/>
        </p:nvCxnSpPr>
        <p:spPr bwMode="auto">
          <a:xfrm>
            <a:off x="3884613" y="2887663"/>
            <a:ext cx="327025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sp>
        <p:nvSpPr>
          <p:cNvPr id="22538" name="Text Box 11"/>
          <p:cNvSpPr txBox="1">
            <a:spLocks noChangeArrowheads="1"/>
          </p:cNvSpPr>
          <p:nvPr/>
        </p:nvSpPr>
        <p:spPr bwMode="auto">
          <a:xfrm>
            <a:off x="468313" y="3357563"/>
            <a:ext cx="8375650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‚Implementation‘ needs to implement only the minimum Interface, </a:t>
            </a:r>
            <a:br>
              <a:rPr lang="de-DE"/>
            </a:br>
            <a:r>
              <a:rPr lang="de-DE"/>
              <a:t>i.e. primitive Operations!  </a:t>
            </a:r>
          </a:p>
          <a:p>
            <a:r>
              <a:rPr lang="de-DE"/>
              <a:t>DAbstraction implements the complex Operations by Delegation to an IInterface. </a:t>
            </a:r>
          </a:p>
          <a:p>
            <a:r>
              <a:rPr lang="de-DE"/>
              <a:t>This can also be a Subclass of DAbstraction itself, which simplifies Construction </a:t>
            </a:r>
            <a:br>
              <a:rPr lang="de-DE"/>
            </a:br>
            <a:r>
              <a:rPr lang="de-DE"/>
              <a:t>and is analogous to the Template Pattern (with additional ‚self‘ Pointer)</a:t>
            </a:r>
          </a:p>
          <a:p>
            <a:endParaRPr lang="de-DE"/>
          </a:p>
          <a:p>
            <a:r>
              <a:rPr lang="de-DE"/>
              <a:t>Pro: 	‚Implementation‘ needs to implement only the minimum Interface </a:t>
            </a:r>
            <a:br>
              <a:rPr lang="de-DE"/>
            </a:br>
            <a:r>
              <a:rPr lang="de-DE"/>
              <a:t>	fast Delegation of Bridge Calls from complex to primitive Operations </a:t>
            </a:r>
            <a:br>
              <a:rPr lang="de-DE"/>
            </a:br>
            <a:r>
              <a:rPr lang="de-DE"/>
              <a:t>	(not slower than in Template Pattern)</a:t>
            </a:r>
          </a:p>
          <a:p>
            <a:r>
              <a:rPr lang="de-DE"/>
              <a:t>	when Bridge is used explicitly, even Calls to primitive Ops are INLINEd.</a:t>
            </a:r>
          </a:p>
          <a:p>
            <a:r>
              <a:rPr lang="de-DE"/>
              <a:t>Contra:	no Overriding / Optimization of complex Operations possible! </a:t>
            </a:r>
            <a:br>
              <a:rPr lang="de-DE"/>
            </a:br>
            <a:r>
              <a:rPr lang="de-DE"/>
              <a:t>	(defined by the Bridge) </a:t>
            </a:r>
            <a:endParaRPr lang="en-US"/>
          </a:p>
        </p:txBody>
      </p:sp>
      <p:cxnSp>
        <p:nvCxnSpPr>
          <p:cNvPr id="22539" name="AutoShape 15"/>
          <p:cNvCxnSpPr>
            <a:cxnSpLocks noChangeShapeType="1"/>
            <a:stCxn id="22534" idx="0"/>
            <a:endCxn id="22531" idx="2"/>
          </p:cNvCxnSpPr>
          <p:nvPr/>
        </p:nvCxnSpPr>
        <p:spPr bwMode="auto">
          <a:xfrm flipV="1">
            <a:off x="3092450" y="1771650"/>
            <a:ext cx="0" cy="936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2540" name="Rectangle 16"/>
          <p:cNvSpPr>
            <a:spLocks noChangeArrowheads="1"/>
          </p:cNvSpPr>
          <p:nvPr/>
        </p:nvSpPr>
        <p:spPr bwMode="auto">
          <a:xfrm>
            <a:off x="395288" y="2708275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Any Class!!!</a:t>
            </a:r>
            <a:endParaRPr lang="en-US"/>
          </a:p>
        </p:txBody>
      </p:sp>
      <p:cxnSp>
        <p:nvCxnSpPr>
          <p:cNvPr id="22541" name="AutoShape 17"/>
          <p:cNvCxnSpPr>
            <a:cxnSpLocks noChangeShapeType="1"/>
            <a:stCxn id="22534" idx="1"/>
            <a:endCxn id="22540" idx="3"/>
          </p:cNvCxnSpPr>
          <p:nvPr/>
        </p:nvCxnSpPr>
        <p:spPr bwMode="auto">
          <a:xfrm flipH="1">
            <a:off x="1979613" y="2887663"/>
            <a:ext cx="3206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2542" name="Text Box 18"/>
          <p:cNvSpPr txBox="1">
            <a:spLocks noChangeArrowheads="1"/>
          </p:cNvSpPr>
          <p:nvPr/>
        </p:nvSpPr>
        <p:spPr bwMode="auto">
          <a:xfrm>
            <a:off x="6362700" y="2703513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Visible Interface</a:t>
            </a:r>
            <a:endParaRPr lang="en-US"/>
          </a:p>
        </p:txBody>
      </p:sp>
      <p:cxnSp>
        <p:nvCxnSpPr>
          <p:cNvPr id="22543" name="AutoShape 19"/>
          <p:cNvCxnSpPr>
            <a:cxnSpLocks noChangeShapeType="1"/>
            <a:stCxn id="22533" idx="3"/>
            <a:endCxn id="22542" idx="1"/>
          </p:cNvCxnSpPr>
          <p:nvPr/>
        </p:nvCxnSpPr>
        <p:spPr bwMode="auto">
          <a:xfrm flipV="1">
            <a:off x="5795963" y="2887663"/>
            <a:ext cx="566737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sp>
        <p:nvSpPr>
          <p:cNvPr id="22544" name="Rectangle 21"/>
          <p:cNvSpPr>
            <a:spLocks noChangeArrowheads="1"/>
          </p:cNvSpPr>
          <p:nvPr/>
        </p:nvSpPr>
        <p:spPr bwMode="auto">
          <a:xfrm>
            <a:off x="6516688" y="1917700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Template w. </a:t>
            </a:r>
            <a:br>
              <a:rPr lang="de-DE"/>
            </a:br>
            <a:r>
              <a:rPr lang="de-DE"/>
              <a:t>Delegation</a:t>
            </a:r>
            <a:endParaRPr lang="en-US"/>
          </a:p>
        </p:txBody>
      </p:sp>
      <p:cxnSp>
        <p:nvCxnSpPr>
          <p:cNvPr id="22545" name="AutoShape 22"/>
          <p:cNvCxnSpPr>
            <a:cxnSpLocks noChangeShapeType="1"/>
            <a:stCxn id="22544" idx="1"/>
            <a:endCxn id="22547" idx="3"/>
          </p:cNvCxnSpPr>
          <p:nvPr/>
        </p:nvCxnSpPr>
        <p:spPr bwMode="auto">
          <a:xfrm flipH="1" flipV="1">
            <a:off x="5795963" y="2239963"/>
            <a:ext cx="720725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2546" name="AutoShape 23"/>
          <p:cNvCxnSpPr>
            <a:cxnSpLocks noChangeShapeType="1"/>
            <a:stCxn id="22544" idx="1"/>
            <a:endCxn id="22547" idx="3"/>
          </p:cNvCxnSpPr>
          <p:nvPr/>
        </p:nvCxnSpPr>
        <p:spPr bwMode="auto">
          <a:xfrm rot="10800000">
            <a:off x="5795963" y="2239963"/>
            <a:ext cx="720725" cy="1587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 type="arrow" w="lg" len="lg"/>
            <a:tailEnd type="none" w="lg" len="lg"/>
          </a:ln>
        </p:spPr>
      </p:cxnSp>
      <p:sp>
        <p:nvSpPr>
          <p:cNvPr id="22547" name="Rectangle 25"/>
          <p:cNvSpPr>
            <a:spLocks noChangeArrowheads="1"/>
          </p:cNvSpPr>
          <p:nvPr/>
        </p:nvSpPr>
        <p:spPr bwMode="auto">
          <a:xfrm>
            <a:off x="4211638" y="2060575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DAbstraction</a:t>
            </a:r>
            <a:endParaRPr lang="en-US"/>
          </a:p>
        </p:txBody>
      </p:sp>
      <p:cxnSp>
        <p:nvCxnSpPr>
          <p:cNvPr id="22548" name="AutoShape 26"/>
          <p:cNvCxnSpPr>
            <a:cxnSpLocks noChangeShapeType="1"/>
            <a:stCxn id="22547" idx="0"/>
            <a:endCxn id="22532" idx="2"/>
          </p:cNvCxnSpPr>
          <p:nvPr/>
        </p:nvCxnSpPr>
        <p:spPr bwMode="auto">
          <a:xfrm flipV="1">
            <a:off x="5003800" y="1771650"/>
            <a:ext cx="0" cy="2889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Full Bridge Delegation Pattern</a:t>
            </a:r>
            <a:endParaRPr lang="en-US"/>
          </a:p>
        </p:txBody>
      </p:sp>
      <p:sp>
        <p:nvSpPr>
          <p:cNvPr id="23554" name="Rectangle 5"/>
          <p:cNvSpPr>
            <a:spLocks noChangeArrowheads="1"/>
          </p:cNvSpPr>
          <p:nvPr/>
        </p:nvSpPr>
        <p:spPr bwMode="auto">
          <a:xfrm>
            <a:off x="612775" y="1484313"/>
            <a:ext cx="129540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IInterface</a:t>
            </a:r>
            <a:endParaRPr lang="en-US"/>
          </a:p>
        </p:txBody>
      </p:sp>
      <p:sp>
        <p:nvSpPr>
          <p:cNvPr id="23555" name="Rectangle 6"/>
          <p:cNvSpPr>
            <a:spLocks noChangeArrowheads="1"/>
          </p:cNvSpPr>
          <p:nvPr/>
        </p:nvSpPr>
        <p:spPr bwMode="auto">
          <a:xfrm>
            <a:off x="2562225" y="1484313"/>
            <a:ext cx="107315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Interface</a:t>
            </a:r>
            <a:endParaRPr lang="en-US"/>
          </a:p>
        </p:txBody>
      </p:sp>
      <p:sp>
        <p:nvSpPr>
          <p:cNvPr id="23556" name="Rectangle 7"/>
          <p:cNvSpPr>
            <a:spLocks noChangeArrowheads="1"/>
          </p:cNvSpPr>
          <p:nvPr/>
        </p:nvSpPr>
        <p:spPr bwMode="auto">
          <a:xfrm>
            <a:off x="5724525" y="1490663"/>
            <a:ext cx="863600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Bridge</a:t>
            </a:r>
            <a:endParaRPr lang="en-US"/>
          </a:p>
        </p:txBody>
      </p:sp>
      <p:cxnSp>
        <p:nvCxnSpPr>
          <p:cNvPr id="23557" name="AutoShape 9"/>
          <p:cNvCxnSpPr>
            <a:cxnSpLocks noChangeShapeType="1"/>
            <a:stCxn id="23555" idx="1"/>
            <a:endCxn id="23554" idx="3"/>
          </p:cNvCxnSpPr>
          <p:nvPr/>
        </p:nvCxnSpPr>
        <p:spPr bwMode="auto">
          <a:xfrm flipH="1">
            <a:off x="1908175" y="1663700"/>
            <a:ext cx="6540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558" name="AutoShape 10"/>
          <p:cNvCxnSpPr>
            <a:cxnSpLocks noChangeShapeType="1"/>
            <a:stCxn id="23570" idx="1"/>
            <a:endCxn id="23555" idx="3"/>
          </p:cNvCxnSpPr>
          <p:nvPr/>
        </p:nvCxnSpPr>
        <p:spPr bwMode="auto">
          <a:xfrm flipH="1">
            <a:off x="3635375" y="1663700"/>
            <a:ext cx="3619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3559" name="Rectangle 20"/>
          <p:cNvSpPr>
            <a:spLocks noChangeArrowheads="1"/>
          </p:cNvSpPr>
          <p:nvPr/>
        </p:nvSpPr>
        <p:spPr bwMode="auto">
          <a:xfrm>
            <a:off x="2268538" y="2068513"/>
            <a:ext cx="4751387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3560" name="Rectangle 21"/>
          <p:cNvSpPr>
            <a:spLocks noChangeArrowheads="1"/>
          </p:cNvSpPr>
          <p:nvPr/>
        </p:nvSpPr>
        <p:spPr bwMode="auto">
          <a:xfrm>
            <a:off x="5364163" y="2139950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FullBridge</a:t>
            </a:r>
            <a:endParaRPr lang="en-US"/>
          </a:p>
        </p:txBody>
      </p:sp>
      <p:sp>
        <p:nvSpPr>
          <p:cNvPr id="23561" name="Rectangle 22"/>
          <p:cNvSpPr>
            <a:spLocks noChangeArrowheads="1"/>
          </p:cNvSpPr>
          <p:nvPr/>
        </p:nvSpPr>
        <p:spPr bwMode="auto">
          <a:xfrm>
            <a:off x="2300288" y="2138363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FullImplement</a:t>
            </a:r>
            <a:endParaRPr lang="en-US"/>
          </a:p>
        </p:txBody>
      </p:sp>
      <p:cxnSp>
        <p:nvCxnSpPr>
          <p:cNvPr id="23562" name="AutoShape 23"/>
          <p:cNvCxnSpPr>
            <a:cxnSpLocks noChangeShapeType="1"/>
            <a:stCxn id="23560" idx="0"/>
            <a:endCxn id="23556" idx="2"/>
          </p:cNvCxnSpPr>
          <p:nvPr/>
        </p:nvCxnSpPr>
        <p:spPr bwMode="auto">
          <a:xfrm flipV="1">
            <a:off x="6156325" y="1849438"/>
            <a:ext cx="0" cy="2905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563" name="AutoShape 24"/>
          <p:cNvCxnSpPr>
            <a:cxnSpLocks noChangeShapeType="1"/>
            <a:stCxn id="23561" idx="3"/>
            <a:endCxn id="23560" idx="1"/>
          </p:cNvCxnSpPr>
          <p:nvPr/>
        </p:nvCxnSpPr>
        <p:spPr bwMode="auto">
          <a:xfrm>
            <a:off x="3884613" y="2317750"/>
            <a:ext cx="147955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cxnSp>
        <p:nvCxnSpPr>
          <p:cNvPr id="23564" name="AutoShape 26"/>
          <p:cNvCxnSpPr>
            <a:cxnSpLocks noChangeShapeType="1"/>
            <a:stCxn id="23561" idx="1"/>
            <a:endCxn id="23566" idx="3"/>
          </p:cNvCxnSpPr>
          <p:nvPr/>
        </p:nvCxnSpPr>
        <p:spPr bwMode="auto">
          <a:xfrm flipH="1">
            <a:off x="1908175" y="2317750"/>
            <a:ext cx="39211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565" name="AutoShape 27"/>
          <p:cNvCxnSpPr>
            <a:cxnSpLocks noChangeShapeType="1"/>
            <a:stCxn id="23560" idx="3"/>
            <a:endCxn id="23568" idx="1"/>
          </p:cNvCxnSpPr>
          <p:nvPr/>
        </p:nvCxnSpPr>
        <p:spPr bwMode="auto">
          <a:xfrm flipV="1">
            <a:off x="6948488" y="2316163"/>
            <a:ext cx="277812" cy="31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sp>
        <p:nvSpPr>
          <p:cNvPr id="23566" name="Rectangle 28"/>
          <p:cNvSpPr>
            <a:spLocks noChangeArrowheads="1"/>
          </p:cNvSpPr>
          <p:nvPr/>
        </p:nvSpPr>
        <p:spPr bwMode="auto">
          <a:xfrm>
            <a:off x="612775" y="2138363"/>
            <a:ext cx="1295400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Any Class!!!</a:t>
            </a:r>
            <a:endParaRPr lang="en-US"/>
          </a:p>
        </p:txBody>
      </p:sp>
      <p:cxnSp>
        <p:nvCxnSpPr>
          <p:cNvPr id="23567" name="AutoShape 29"/>
          <p:cNvCxnSpPr>
            <a:cxnSpLocks noChangeShapeType="1"/>
            <a:stCxn id="23561" idx="0"/>
            <a:endCxn id="23555" idx="2"/>
          </p:cNvCxnSpPr>
          <p:nvPr/>
        </p:nvCxnSpPr>
        <p:spPr bwMode="auto">
          <a:xfrm flipV="1">
            <a:off x="3092450" y="1843088"/>
            <a:ext cx="6350" cy="2952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3568" name="Text Box 30"/>
          <p:cNvSpPr txBox="1">
            <a:spLocks noChangeArrowheads="1"/>
          </p:cNvSpPr>
          <p:nvPr/>
        </p:nvSpPr>
        <p:spPr bwMode="auto">
          <a:xfrm>
            <a:off x="7226300" y="2132013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Visible Interface</a:t>
            </a:r>
            <a:endParaRPr lang="en-US"/>
          </a:p>
        </p:txBody>
      </p:sp>
      <p:sp>
        <p:nvSpPr>
          <p:cNvPr id="23569" name="Text Box 31"/>
          <p:cNvSpPr txBox="1">
            <a:spLocks noChangeArrowheads="1"/>
          </p:cNvSpPr>
          <p:nvPr/>
        </p:nvSpPr>
        <p:spPr bwMode="auto">
          <a:xfrm>
            <a:off x="468313" y="2924175"/>
            <a:ext cx="788035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‚FullImplementation‘ must implement the full Interface, </a:t>
            </a:r>
          </a:p>
          <a:p>
            <a:r>
              <a:rPr lang="de-DE"/>
              <a:t>i.e. both primitive and complex Operations. </a:t>
            </a:r>
          </a:p>
          <a:p>
            <a:r>
              <a:rPr lang="de-DE"/>
              <a:t>But the Implementation of the complex Operations can be delegated back </a:t>
            </a:r>
            <a:br>
              <a:rPr lang="de-DE"/>
            </a:br>
            <a:r>
              <a:rPr lang="de-DE"/>
              <a:t>to an Instance of Bridge either by subclassing or more Delegation. </a:t>
            </a:r>
          </a:p>
          <a:p>
            <a:endParaRPr lang="de-DE"/>
          </a:p>
          <a:p>
            <a:r>
              <a:rPr lang="de-DE"/>
              <a:t>Pro: 	fast Delegation of primitive Operations </a:t>
            </a:r>
            <a:br>
              <a:rPr lang="de-DE"/>
            </a:br>
            <a:r>
              <a:rPr lang="de-DE"/>
              <a:t>	(slower with complex Ops, but that is not so bad, since longer)</a:t>
            </a:r>
          </a:p>
          <a:p>
            <a:r>
              <a:rPr lang="de-DE"/>
              <a:t>	Overriding / Optimization of complex Operations possible! </a:t>
            </a:r>
          </a:p>
          <a:p>
            <a:r>
              <a:rPr lang="de-DE"/>
              <a:t>Contra:	FullImplement must implement ALL Operations. (see next 2 Slides)</a:t>
            </a:r>
            <a:endParaRPr lang="en-US"/>
          </a:p>
        </p:txBody>
      </p:sp>
      <p:sp>
        <p:nvSpPr>
          <p:cNvPr id="23570" name="Rectangle 32"/>
          <p:cNvSpPr>
            <a:spLocks noChangeArrowheads="1"/>
          </p:cNvSpPr>
          <p:nvPr/>
        </p:nvSpPr>
        <p:spPr bwMode="auto">
          <a:xfrm>
            <a:off x="3997325" y="1484313"/>
            <a:ext cx="143827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DAbstraction</a:t>
            </a:r>
            <a:endParaRPr lang="en-US"/>
          </a:p>
        </p:txBody>
      </p:sp>
      <p:cxnSp>
        <p:nvCxnSpPr>
          <p:cNvPr id="23571" name="AutoShape 33"/>
          <p:cNvCxnSpPr>
            <a:cxnSpLocks noChangeShapeType="1"/>
            <a:stCxn id="23556" idx="1"/>
            <a:endCxn id="23570" idx="3"/>
          </p:cNvCxnSpPr>
          <p:nvPr/>
        </p:nvCxnSpPr>
        <p:spPr bwMode="auto">
          <a:xfrm flipH="1" flipV="1">
            <a:off x="5435600" y="1663700"/>
            <a:ext cx="288925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Full Bridge Delegation Pattern</a:t>
            </a:r>
            <a:endParaRPr lang="en-US"/>
          </a:p>
        </p:txBody>
      </p:sp>
      <p:sp>
        <p:nvSpPr>
          <p:cNvPr id="24578" name="Rectangle 8"/>
          <p:cNvSpPr>
            <a:spLocks noChangeArrowheads="1"/>
          </p:cNvSpPr>
          <p:nvPr/>
        </p:nvSpPr>
        <p:spPr bwMode="auto">
          <a:xfrm>
            <a:off x="3411538" y="5957888"/>
            <a:ext cx="3598862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4579" name="Rectangle 9"/>
          <p:cNvSpPr>
            <a:spLocks noChangeArrowheads="1"/>
          </p:cNvSpPr>
          <p:nvPr/>
        </p:nvSpPr>
        <p:spPr bwMode="auto">
          <a:xfrm>
            <a:off x="5354638" y="6029325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FullBridge</a:t>
            </a:r>
            <a:endParaRPr lang="en-US"/>
          </a:p>
        </p:txBody>
      </p:sp>
      <p:sp>
        <p:nvSpPr>
          <p:cNvPr id="24580" name="Rectangle 10"/>
          <p:cNvSpPr>
            <a:spLocks noChangeArrowheads="1"/>
          </p:cNvSpPr>
          <p:nvPr/>
        </p:nvSpPr>
        <p:spPr bwMode="auto">
          <a:xfrm>
            <a:off x="3492500" y="6027738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FullImplement</a:t>
            </a:r>
            <a:endParaRPr lang="en-US"/>
          </a:p>
        </p:txBody>
      </p:sp>
      <p:cxnSp>
        <p:nvCxnSpPr>
          <p:cNvPr id="24581" name="AutoShape 11"/>
          <p:cNvCxnSpPr>
            <a:cxnSpLocks noChangeShapeType="1"/>
            <a:stCxn id="24579" idx="0"/>
            <a:endCxn id="24606" idx="2"/>
          </p:cNvCxnSpPr>
          <p:nvPr/>
        </p:nvCxnSpPr>
        <p:spPr bwMode="auto">
          <a:xfrm flipV="1">
            <a:off x="6146800" y="5661025"/>
            <a:ext cx="9525" cy="3683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582" name="AutoShape 12"/>
          <p:cNvCxnSpPr>
            <a:cxnSpLocks noChangeShapeType="1"/>
            <a:stCxn id="24580" idx="3"/>
            <a:endCxn id="24579" idx="1"/>
          </p:cNvCxnSpPr>
          <p:nvPr/>
        </p:nvCxnSpPr>
        <p:spPr bwMode="auto">
          <a:xfrm>
            <a:off x="5076825" y="6207125"/>
            <a:ext cx="277813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cxnSp>
        <p:nvCxnSpPr>
          <p:cNvPr id="24583" name="AutoShape 13"/>
          <p:cNvCxnSpPr>
            <a:cxnSpLocks noChangeShapeType="1"/>
            <a:stCxn id="24580" idx="1"/>
            <a:endCxn id="24585" idx="3"/>
          </p:cNvCxnSpPr>
          <p:nvPr/>
        </p:nvCxnSpPr>
        <p:spPr bwMode="auto">
          <a:xfrm flipH="1">
            <a:off x="3122613" y="6207125"/>
            <a:ext cx="369887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584" name="AutoShape 14"/>
          <p:cNvCxnSpPr>
            <a:cxnSpLocks noChangeShapeType="1"/>
            <a:stCxn id="24579" idx="3"/>
            <a:endCxn id="24586" idx="1"/>
          </p:cNvCxnSpPr>
          <p:nvPr/>
        </p:nvCxnSpPr>
        <p:spPr bwMode="auto">
          <a:xfrm flipV="1">
            <a:off x="6938963" y="6205538"/>
            <a:ext cx="296862" cy="31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sp>
        <p:nvSpPr>
          <p:cNvPr id="24585" name="Rectangle 15"/>
          <p:cNvSpPr>
            <a:spLocks noChangeArrowheads="1"/>
          </p:cNvSpPr>
          <p:nvPr/>
        </p:nvSpPr>
        <p:spPr bwMode="auto">
          <a:xfrm>
            <a:off x="1538288" y="6027738"/>
            <a:ext cx="1584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Any Class!!!</a:t>
            </a:r>
            <a:endParaRPr lang="en-US"/>
          </a:p>
        </p:txBody>
      </p:sp>
      <p:sp>
        <p:nvSpPr>
          <p:cNvPr id="24586" name="Text Box 17"/>
          <p:cNvSpPr txBox="1">
            <a:spLocks noChangeArrowheads="1"/>
          </p:cNvSpPr>
          <p:nvPr/>
        </p:nvSpPr>
        <p:spPr bwMode="auto">
          <a:xfrm>
            <a:off x="7235825" y="6021388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Visible Interface</a:t>
            </a:r>
            <a:endParaRPr lang="en-US"/>
          </a:p>
        </p:txBody>
      </p:sp>
      <p:cxnSp>
        <p:nvCxnSpPr>
          <p:cNvPr id="24587" name="AutoShape 19"/>
          <p:cNvCxnSpPr>
            <a:cxnSpLocks noChangeShapeType="1"/>
            <a:stCxn id="24609" idx="2"/>
            <a:endCxn id="24580" idx="0"/>
          </p:cNvCxnSpPr>
          <p:nvPr/>
        </p:nvCxnSpPr>
        <p:spPr bwMode="auto">
          <a:xfrm>
            <a:off x="4284663" y="5654675"/>
            <a:ext cx="0" cy="3730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sp>
        <p:nvSpPr>
          <p:cNvPr id="24588" name="Rectangle 20"/>
          <p:cNvSpPr>
            <a:spLocks noChangeArrowheads="1"/>
          </p:cNvSpPr>
          <p:nvPr/>
        </p:nvSpPr>
        <p:spPr bwMode="auto">
          <a:xfrm>
            <a:off x="611188" y="1557338"/>
            <a:ext cx="11525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IInterface</a:t>
            </a:r>
            <a:endParaRPr lang="en-US"/>
          </a:p>
        </p:txBody>
      </p:sp>
      <p:sp>
        <p:nvSpPr>
          <p:cNvPr id="24589" name="Rectangle 25"/>
          <p:cNvSpPr>
            <a:spLocks noChangeArrowheads="1"/>
          </p:cNvSpPr>
          <p:nvPr/>
        </p:nvSpPr>
        <p:spPr bwMode="auto">
          <a:xfrm>
            <a:off x="3348038" y="2141538"/>
            <a:ext cx="3670300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4590" name="Rectangle 26"/>
          <p:cNvSpPr>
            <a:spLocks noChangeArrowheads="1"/>
          </p:cNvSpPr>
          <p:nvPr/>
        </p:nvSpPr>
        <p:spPr bwMode="auto">
          <a:xfrm>
            <a:off x="5362575" y="2212975"/>
            <a:ext cx="158432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FullBridge</a:t>
            </a:r>
            <a:endParaRPr lang="en-US"/>
          </a:p>
        </p:txBody>
      </p:sp>
      <p:sp>
        <p:nvSpPr>
          <p:cNvPr id="24591" name="Rectangle 27"/>
          <p:cNvSpPr>
            <a:spLocks noChangeArrowheads="1"/>
          </p:cNvSpPr>
          <p:nvPr/>
        </p:nvSpPr>
        <p:spPr bwMode="auto">
          <a:xfrm>
            <a:off x="3492500" y="2211388"/>
            <a:ext cx="1543050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FullImplement</a:t>
            </a:r>
            <a:endParaRPr lang="en-US"/>
          </a:p>
        </p:txBody>
      </p:sp>
      <p:cxnSp>
        <p:nvCxnSpPr>
          <p:cNvPr id="24592" name="AutoShape 28"/>
          <p:cNvCxnSpPr>
            <a:cxnSpLocks noChangeShapeType="1"/>
            <a:stCxn id="24590" idx="0"/>
          </p:cNvCxnSpPr>
          <p:nvPr/>
        </p:nvCxnSpPr>
        <p:spPr bwMode="auto">
          <a:xfrm flipV="1">
            <a:off x="6154738" y="1922463"/>
            <a:ext cx="0" cy="2905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593" name="AutoShape 29"/>
          <p:cNvCxnSpPr>
            <a:cxnSpLocks noChangeShapeType="1"/>
            <a:stCxn id="24591" idx="3"/>
            <a:endCxn id="24590" idx="1"/>
          </p:cNvCxnSpPr>
          <p:nvPr/>
        </p:nvCxnSpPr>
        <p:spPr bwMode="auto">
          <a:xfrm>
            <a:off x="5035550" y="2390775"/>
            <a:ext cx="327025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cxnSp>
        <p:nvCxnSpPr>
          <p:cNvPr id="24594" name="AutoShape 31"/>
          <p:cNvCxnSpPr>
            <a:cxnSpLocks noChangeShapeType="1"/>
            <a:stCxn id="24590" idx="3"/>
            <a:endCxn id="24596" idx="1"/>
          </p:cNvCxnSpPr>
          <p:nvPr/>
        </p:nvCxnSpPr>
        <p:spPr bwMode="auto">
          <a:xfrm flipV="1">
            <a:off x="6946900" y="2389188"/>
            <a:ext cx="288925" cy="31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arrow" w="lg" len="lg"/>
            <a:tailEnd type="none" w="lg" len="lg"/>
          </a:ln>
        </p:spPr>
      </p:cxnSp>
      <p:cxnSp>
        <p:nvCxnSpPr>
          <p:cNvPr id="24595" name="AutoShape 33"/>
          <p:cNvCxnSpPr>
            <a:cxnSpLocks noChangeShapeType="1"/>
            <a:stCxn id="24591" idx="0"/>
            <a:endCxn id="24602" idx="2"/>
          </p:cNvCxnSpPr>
          <p:nvPr/>
        </p:nvCxnSpPr>
        <p:spPr bwMode="auto">
          <a:xfrm flipV="1">
            <a:off x="4264025" y="1909763"/>
            <a:ext cx="20638" cy="301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4596" name="Text Box 34"/>
          <p:cNvSpPr txBox="1">
            <a:spLocks noChangeArrowheads="1"/>
          </p:cNvSpPr>
          <p:nvPr/>
        </p:nvSpPr>
        <p:spPr bwMode="auto">
          <a:xfrm>
            <a:off x="7235825" y="2205038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Visible Interface</a:t>
            </a:r>
            <a:endParaRPr lang="en-US"/>
          </a:p>
        </p:txBody>
      </p:sp>
      <p:sp>
        <p:nvSpPr>
          <p:cNvPr id="24597" name="Text Box 68"/>
          <p:cNvSpPr txBox="1">
            <a:spLocks noChangeArrowheads="1"/>
          </p:cNvSpPr>
          <p:nvPr/>
        </p:nvSpPr>
        <p:spPr bwMode="auto">
          <a:xfrm>
            <a:off x="107950" y="2924175"/>
            <a:ext cx="95948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The Implementation of the complex Operations can be delegated back </a:t>
            </a:r>
            <a:br>
              <a:rPr lang="de-DE"/>
            </a:br>
            <a:r>
              <a:rPr lang="de-DE"/>
              <a:t>to an Instance of Bridge either by subclassing as shown above (less Code)</a:t>
            </a:r>
            <a:br>
              <a:rPr lang="de-DE"/>
            </a:br>
            <a:r>
              <a:rPr lang="de-DE"/>
              <a:t>or by Delegation to an Instance of DAbstraction as shown below (mixing of Class Hierarchy). </a:t>
            </a:r>
          </a:p>
          <a:p>
            <a:r>
              <a:rPr lang="de-DE"/>
              <a:t>The upper Implementation is just a more complex Version of the Template Pattern</a:t>
            </a:r>
            <a:br>
              <a:rPr lang="de-DE"/>
            </a:br>
            <a:r>
              <a:rPr lang="de-DE"/>
              <a:t>wrapped by a FullBridge Instance. The only Advantage here would be </a:t>
            </a:r>
            <a:br>
              <a:rPr lang="de-DE"/>
            </a:br>
            <a:r>
              <a:rPr lang="de-DE"/>
              <a:t>the possible consistent use of FullBridge which enables INLINEing of ALL Operations.</a:t>
            </a:r>
          </a:p>
        </p:txBody>
      </p:sp>
      <p:sp>
        <p:nvSpPr>
          <p:cNvPr id="24598" name="Rectangle 75"/>
          <p:cNvSpPr>
            <a:spLocks noChangeArrowheads="1"/>
          </p:cNvSpPr>
          <p:nvPr/>
        </p:nvSpPr>
        <p:spPr bwMode="auto">
          <a:xfrm>
            <a:off x="2130425" y="1550988"/>
            <a:ext cx="107315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Interface</a:t>
            </a:r>
            <a:endParaRPr lang="en-US"/>
          </a:p>
        </p:txBody>
      </p:sp>
      <p:sp>
        <p:nvSpPr>
          <p:cNvPr id="24599" name="Rectangle 76"/>
          <p:cNvSpPr>
            <a:spLocks noChangeArrowheads="1"/>
          </p:cNvSpPr>
          <p:nvPr/>
        </p:nvSpPr>
        <p:spPr bwMode="auto">
          <a:xfrm>
            <a:off x="5724525" y="1557338"/>
            <a:ext cx="863600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Bridge</a:t>
            </a:r>
            <a:endParaRPr lang="en-US"/>
          </a:p>
        </p:txBody>
      </p:sp>
      <p:cxnSp>
        <p:nvCxnSpPr>
          <p:cNvPr id="24600" name="AutoShape 77"/>
          <p:cNvCxnSpPr>
            <a:cxnSpLocks noChangeShapeType="1"/>
            <a:stCxn id="24598" idx="1"/>
            <a:endCxn id="24588" idx="3"/>
          </p:cNvCxnSpPr>
          <p:nvPr/>
        </p:nvCxnSpPr>
        <p:spPr bwMode="auto">
          <a:xfrm flipH="1">
            <a:off x="1763713" y="1730375"/>
            <a:ext cx="366712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601" name="AutoShape 78"/>
          <p:cNvCxnSpPr>
            <a:cxnSpLocks noChangeShapeType="1"/>
            <a:stCxn id="24602" idx="1"/>
            <a:endCxn id="24598" idx="3"/>
          </p:cNvCxnSpPr>
          <p:nvPr/>
        </p:nvCxnSpPr>
        <p:spPr bwMode="auto">
          <a:xfrm flipH="1">
            <a:off x="3203575" y="1730375"/>
            <a:ext cx="3619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4602" name="Rectangle 79"/>
          <p:cNvSpPr>
            <a:spLocks noChangeArrowheads="1"/>
          </p:cNvSpPr>
          <p:nvPr/>
        </p:nvSpPr>
        <p:spPr bwMode="auto">
          <a:xfrm>
            <a:off x="3565525" y="1550988"/>
            <a:ext cx="143827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DAbstraction</a:t>
            </a:r>
            <a:endParaRPr lang="en-US"/>
          </a:p>
        </p:txBody>
      </p:sp>
      <p:cxnSp>
        <p:nvCxnSpPr>
          <p:cNvPr id="24603" name="AutoShape 80"/>
          <p:cNvCxnSpPr>
            <a:cxnSpLocks noChangeShapeType="1"/>
            <a:stCxn id="24599" idx="1"/>
            <a:endCxn id="24602" idx="3"/>
          </p:cNvCxnSpPr>
          <p:nvPr/>
        </p:nvCxnSpPr>
        <p:spPr bwMode="auto">
          <a:xfrm flipH="1" flipV="1">
            <a:off x="5003800" y="1730375"/>
            <a:ext cx="720725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4604" name="Rectangle 81"/>
          <p:cNvSpPr>
            <a:spLocks noChangeArrowheads="1"/>
          </p:cNvSpPr>
          <p:nvPr/>
        </p:nvSpPr>
        <p:spPr bwMode="auto">
          <a:xfrm>
            <a:off x="611188" y="5302250"/>
            <a:ext cx="1152525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IInterface</a:t>
            </a:r>
            <a:endParaRPr lang="en-US"/>
          </a:p>
        </p:txBody>
      </p:sp>
      <p:sp>
        <p:nvSpPr>
          <p:cNvPr id="24605" name="Rectangle 82"/>
          <p:cNvSpPr>
            <a:spLocks noChangeArrowheads="1"/>
          </p:cNvSpPr>
          <p:nvPr/>
        </p:nvSpPr>
        <p:spPr bwMode="auto">
          <a:xfrm>
            <a:off x="2130425" y="5295900"/>
            <a:ext cx="107315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Interface</a:t>
            </a:r>
            <a:endParaRPr lang="en-US"/>
          </a:p>
        </p:txBody>
      </p:sp>
      <p:sp>
        <p:nvSpPr>
          <p:cNvPr id="24606" name="Rectangle 83"/>
          <p:cNvSpPr>
            <a:spLocks noChangeArrowheads="1"/>
          </p:cNvSpPr>
          <p:nvPr/>
        </p:nvSpPr>
        <p:spPr bwMode="auto">
          <a:xfrm>
            <a:off x="5724525" y="5302250"/>
            <a:ext cx="863600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Bridge</a:t>
            </a:r>
            <a:endParaRPr lang="en-US"/>
          </a:p>
        </p:txBody>
      </p:sp>
      <p:cxnSp>
        <p:nvCxnSpPr>
          <p:cNvPr id="24607" name="AutoShape 84"/>
          <p:cNvCxnSpPr>
            <a:cxnSpLocks noChangeShapeType="1"/>
            <a:stCxn id="24605" idx="1"/>
            <a:endCxn id="24604" idx="3"/>
          </p:cNvCxnSpPr>
          <p:nvPr/>
        </p:nvCxnSpPr>
        <p:spPr bwMode="auto">
          <a:xfrm flipH="1">
            <a:off x="1763713" y="5475288"/>
            <a:ext cx="366712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608" name="AutoShape 85"/>
          <p:cNvCxnSpPr>
            <a:cxnSpLocks noChangeShapeType="1"/>
            <a:stCxn id="24609" idx="1"/>
            <a:endCxn id="24605" idx="3"/>
          </p:cNvCxnSpPr>
          <p:nvPr/>
        </p:nvCxnSpPr>
        <p:spPr bwMode="auto">
          <a:xfrm flipH="1">
            <a:off x="3203575" y="5475288"/>
            <a:ext cx="36195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4609" name="Rectangle 86"/>
          <p:cNvSpPr>
            <a:spLocks noChangeArrowheads="1"/>
          </p:cNvSpPr>
          <p:nvPr/>
        </p:nvSpPr>
        <p:spPr bwMode="auto">
          <a:xfrm>
            <a:off x="3565525" y="5295900"/>
            <a:ext cx="1438275" cy="358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/>
              <a:t>DAbstraction</a:t>
            </a:r>
            <a:endParaRPr lang="en-US"/>
          </a:p>
        </p:txBody>
      </p:sp>
      <p:cxnSp>
        <p:nvCxnSpPr>
          <p:cNvPr id="24610" name="AutoShape 87"/>
          <p:cNvCxnSpPr>
            <a:cxnSpLocks noChangeShapeType="1"/>
            <a:stCxn id="24606" idx="1"/>
            <a:endCxn id="24609" idx="3"/>
          </p:cNvCxnSpPr>
          <p:nvPr/>
        </p:nvCxnSpPr>
        <p:spPr bwMode="auto">
          <a:xfrm flipH="1" flipV="1">
            <a:off x="5003800" y="5475288"/>
            <a:ext cx="720725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/>
            <a:r>
              <a:rPr lang="en-US"/>
              <a:t>No more Weak Typing </a:t>
            </a:r>
            <a:endParaRPr lang="de-DE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7125"/>
            <a:ext cx="8496300" cy="5470525"/>
          </a:xfrm>
        </p:spPr>
        <p:txBody>
          <a:bodyPr/>
          <a:lstStyle/>
          <a:p>
            <a:pPr eaLnBrk="1" hangingPunct="1"/>
            <a:r>
              <a:rPr lang="en-US"/>
              <a:t>Using ‘object’ allows for quick Flexibility, but Complexity and extra Checks at Runtime</a:t>
            </a:r>
          </a:p>
          <a:p>
            <a:pPr eaLnBrk="1" hangingPunct="1"/>
            <a:r>
              <a:rPr lang="en-US"/>
              <a:t>Using a concrete Class allows for Operators (Math-DSL) and Conversion </a:t>
            </a:r>
          </a:p>
          <a:p>
            <a:pPr lvl="1" eaLnBrk="1" hangingPunct="1"/>
            <a:r>
              <a:rPr lang="en-US"/>
              <a:t>Multiple Inheritance (Structure-Mix) impossible! </a:t>
            </a:r>
          </a:p>
          <a:p>
            <a:pPr eaLnBrk="1" hangingPunct="1"/>
            <a:r>
              <a:rPr lang="en-US"/>
              <a:t>Object as Parameters gives full Flexibility, but requires </a:t>
            </a:r>
            <a:r>
              <a:rPr lang="en-US" b="1"/>
              <a:t>expensive Runtime Checks</a:t>
            </a:r>
            <a:r>
              <a:rPr lang="en-US"/>
              <a:t> </a:t>
            </a:r>
          </a:p>
          <a:p>
            <a:pPr eaLnBrk="1" hangingPunct="1"/>
            <a:r>
              <a:rPr lang="en-US"/>
              <a:t>Better use concrete Classes which forces the Compiler to take on more Work </a:t>
            </a:r>
          </a:p>
          <a:p>
            <a:pPr eaLnBrk="1" hangingPunct="1"/>
            <a:r>
              <a:rPr lang="en-US"/>
              <a:t>Provide strongly typed Performance Method</a:t>
            </a:r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/>
          <a:lstStyle/>
          <a:p>
            <a:r>
              <a:rPr lang="en-US" sz="4000"/>
              <a:t>Strong Typing: double, int, AQuantity</a:t>
            </a:r>
            <a:endParaRPr lang="de-DE" sz="400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 all Operations in 3 Overloads: </a:t>
            </a:r>
          </a:p>
          <a:p>
            <a:pPr lvl="1"/>
            <a:r>
              <a:rPr lang="en-US"/>
              <a:t>For Performance (int &gt; double &gt;&gt; AQuantity) </a:t>
            </a:r>
          </a:p>
          <a:p>
            <a:pPr lvl="1"/>
            <a:r>
              <a:rPr lang="en-US"/>
              <a:t>For Ring Behavior: int and Polynoms </a:t>
            </a:r>
          </a:p>
          <a:p>
            <a:pPr lvl="1"/>
            <a:r>
              <a:rPr lang="en-US"/>
              <a:t>For Accuracy: </a:t>
            </a:r>
          </a:p>
          <a:p>
            <a:pPr lvl="2"/>
            <a:r>
              <a:rPr lang="en-US"/>
              <a:t>LongInt with arbitrary Length</a:t>
            </a:r>
          </a:p>
          <a:p>
            <a:pPr lvl="2"/>
            <a:r>
              <a:rPr lang="en-US"/>
              <a:t>LongReal with arbitrary Size and Acc. </a:t>
            </a:r>
          </a:p>
          <a:p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Pooling</a:t>
            </a:r>
            <a:endParaRPr lang="de-DE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038725"/>
          </a:xfrm>
        </p:spPr>
        <p:txBody>
          <a:bodyPr/>
          <a:lstStyle/>
          <a:p>
            <a:r>
              <a:rPr lang="en-US"/>
              <a:t>Pooling of individual Objects is slower than Creation and GC </a:t>
            </a:r>
          </a:p>
          <a:p>
            <a:pPr lvl="1"/>
            <a:r>
              <a:rPr lang="en-US"/>
              <a:t>Destructor alone increases Handling*7 </a:t>
            </a:r>
          </a:p>
          <a:p>
            <a:r>
              <a:rPr lang="en-US"/>
              <a:t>Pooling of Arrays is worthwhile though </a:t>
            </a:r>
          </a:p>
          <a:p>
            <a:pPr lvl="1"/>
            <a:r>
              <a:rPr lang="en-US"/>
              <a:t>Large Object Heap (LOH) doesn’t work as efficiently (no Compacting etc.)</a:t>
            </a:r>
          </a:p>
          <a:p>
            <a:pPr lvl="1"/>
            <a:r>
              <a:rPr lang="en-US"/>
              <a:t>null-ing Arrays is expensive too </a:t>
            </a:r>
          </a:p>
          <a:p>
            <a:pPr lvl="1"/>
            <a:r>
              <a:rPr lang="en-US"/>
              <a:t>On the other Hand, typed Caches are expensive and block Memory</a:t>
            </a:r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of Arrays</a:t>
            </a:r>
            <a:endParaRPr lang="de-DE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Instead of returning Items[] …</a:t>
            </a:r>
          </a:p>
          <a:p>
            <a:pPr lvl="1"/>
            <a:r>
              <a:rPr lang="en-US"/>
              <a:t>Always requires a Copy </a:t>
            </a:r>
          </a:p>
          <a:p>
            <a:r>
              <a:rPr lang="en-US"/>
              <a:t>…expose Operations on incoming Arrays or better: IIndexed </a:t>
            </a:r>
          </a:p>
          <a:p>
            <a:pPr lvl="1"/>
            <a:r>
              <a:rPr lang="en-US"/>
              <a:t>Add(Items[] arr)</a:t>
            </a:r>
            <a:endParaRPr lang="de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API-Restriction </a:t>
            </a:r>
            <a:endParaRPr lang="de-DE"/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3025"/>
            <a:ext cx="8496300" cy="5038725"/>
          </a:xfrm>
        </p:spPr>
        <p:txBody>
          <a:bodyPr/>
          <a:lstStyle/>
          <a:p>
            <a:r>
              <a:rPr lang="en-US"/>
              <a:t>To reduce the API Size…</a:t>
            </a:r>
          </a:p>
          <a:p>
            <a:pPr lvl="1"/>
            <a:r>
              <a:rPr lang="en-US"/>
              <a:t>Only double and long are wrapped (64 Bit Arch)</a:t>
            </a:r>
          </a:p>
          <a:p>
            <a:pPr lvl="1"/>
            <a:r>
              <a:rPr lang="en-US"/>
              <a:t>Typically only double and int are returned </a:t>
            </a:r>
          </a:p>
          <a:p>
            <a:pPr lvl="1"/>
            <a:r>
              <a:rPr lang="en-US"/>
              <a:t>Non-optimized Functions are put into Libraries </a:t>
            </a:r>
          </a:p>
          <a:p>
            <a:pPr lvl="2"/>
            <a:r>
              <a:rPr lang="en-US"/>
              <a:t>i387 Functions are Members: Sin, Cos etc. </a:t>
            </a:r>
          </a:p>
          <a:p>
            <a:r>
              <a:rPr lang="en-US"/>
              <a:t>Some APIs are re-fitted </a:t>
            </a:r>
          </a:p>
          <a:p>
            <a:pPr lvl="1"/>
            <a:r>
              <a:rPr lang="en-US"/>
              <a:t>E.g. Random&lt;T&gt; is now typed </a:t>
            </a:r>
          </a:p>
          <a:p>
            <a:pPr lvl="2"/>
            <a:r>
              <a:rPr lang="en-US"/>
              <a:t>Clearly indicates native Type </a:t>
            </a:r>
          </a:p>
          <a:p>
            <a:pPr lvl="2"/>
            <a:r>
              <a:rPr lang="en-US"/>
              <a:t>Forces Conversion </a:t>
            </a:r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 Overloading</a:t>
            </a:r>
            <a:endParaRPr lang="de-DE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600200"/>
            <a:ext cx="8893175" cy="4525963"/>
          </a:xfrm>
        </p:spPr>
        <p:txBody>
          <a:bodyPr/>
          <a:lstStyle/>
          <a:p>
            <a:r>
              <a:rPr lang="en-US"/>
              <a:t>Overloading == and != is confusing </a:t>
            </a:r>
          </a:p>
          <a:p>
            <a:pPr lvl="1"/>
            <a:r>
              <a:rPr lang="en-US"/>
              <a:t>It is as efficient as first testing Reference- and then Value- Equality and centralized. </a:t>
            </a:r>
          </a:p>
          <a:p>
            <a:pPr lvl="1"/>
            <a:r>
              <a:rPr lang="en-US"/>
              <a:t>But only for the Overloader: it has to use Object. ReferenceEquals inside to avoid recursion</a:t>
            </a:r>
          </a:p>
          <a:p>
            <a:pPr lvl="1"/>
            <a:r>
              <a:rPr lang="en-US"/>
              <a:t>It must </a:t>
            </a:r>
            <a:r>
              <a:rPr lang="en-US" b="1">
                <a:solidFill>
                  <a:srgbClr val="FF0000"/>
                </a:solidFill>
              </a:rPr>
              <a:t>ONLY</a:t>
            </a:r>
            <a:r>
              <a:rPr lang="en-US" b="1"/>
              <a:t> </a:t>
            </a:r>
            <a:r>
              <a:rPr lang="en-US"/>
              <a:t>be overloaded </a:t>
            </a:r>
            <a:r>
              <a:rPr lang="en-US" b="1">
                <a:solidFill>
                  <a:srgbClr val="FF0000"/>
                </a:solidFill>
              </a:rPr>
              <a:t>WHEN</a:t>
            </a:r>
            <a:r>
              <a:rPr lang="en-US"/>
              <a:t> the Objects are </a:t>
            </a:r>
            <a:r>
              <a:rPr lang="en-US" b="1">
                <a:solidFill>
                  <a:srgbClr val="FF0000"/>
                </a:solidFill>
              </a:rPr>
              <a:t>IMMUTABLE</a:t>
            </a:r>
            <a:r>
              <a:rPr lang="en-US"/>
              <a:t> or </a:t>
            </a:r>
            <a:r>
              <a:rPr lang="en-US" b="1">
                <a:solidFill>
                  <a:srgbClr val="FF0000"/>
                </a:solidFill>
              </a:rPr>
              <a:t>STRUCTS</a:t>
            </a:r>
            <a:r>
              <a:rPr lang="en-US"/>
              <a:t>; only then Reference Equality is equivalent to Value Equality</a:t>
            </a:r>
          </a:p>
          <a:p>
            <a:r>
              <a:rPr lang="en-US"/>
              <a:t>Overloading &gt;, &lt;, *, / etc. is less problematic</a:t>
            </a:r>
          </a:p>
          <a:p>
            <a:endParaRPr lang="de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3863"/>
            <a:ext cx="8229600" cy="844550"/>
          </a:xfrm>
        </p:spPr>
        <p:txBody>
          <a:bodyPr/>
          <a:lstStyle/>
          <a:p>
            <a:r>
              <a:rPr lang="en-US"/>
              <a:t>Einheiten </a:t>
            </a:r>
            <a:endParaRPr lang="de-DE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41438"/>
            <a:ext cx="8229600" cy="5183187"/>
          </a:xfrm>
        </p:spPr>
        <p:txBody>
          <a:bodyPr/>
          <a:lstStyle/>
          <a:p>
            <a:r>
              <a:rPr lang="en-US"/>
              <a:t>Einheiten unterstützen Programmierung und Interpretation des Ergebnisses </a:t>
            </a:r>
          </a:p>
          <a:p>
            <a:r>
              <a:rPr lang="en-US"/>
              <a:t>Imaginary i: </a:t>
            </a:r>
          </a:p>
          <a:p>
            <a:pPr lvl="1"/>
            <a:r>
              <a:rPr lang="en-US"/>
              <a:t>Als Konstante </a:t>
            </a:r>
            <a:r>
              <a:rPr lang="en-US">
                <a:sym typeface="Wingdings" pitchFamily="2" charset="2"/>
              </a:rPr>
              <a:t> Singleton, Prod nötig </a:t>
            </a:r>
            <a:endParaRPr lang="en-US"/>
          </a:p>
          <a:p>
            <a:pPr lvl="1"/>
            <a:r>
              <a:rPr lang="en-US"/>
              <a:t>Als Einheit </a:t>
            </a:r>
            <a:r>
              <a:rPr lang="en-US">
                <a:sym typeface="Wingdings" pitchFamily="2" charset="2"/>
              </a:rPr>
              <a:t> i²=1 muss extra prog werden </a:t>
            </a:r>
          </a:p>
          <a:p>
            <a:r>
              <a:rPr lang="en-US"/>
              <a:t>Variable x,y,z…</a:t>
            </a:r>
          </a:p>
          <a:p>
            <a:pPr lvl="1"/>
            <a:r>
              <a:rPr lang="en-US"/>
              <a:t>Als Einheit </a:t>
            </a:r>
            <a:r>
              <a:rPr lang="en-US">
                <a:sym typeface="Wingdings" pitchFamily="2" charset="2"/>
              </a:rPr>
              <a:t> sortiert, zusammengefasst </a:t>
            </a:r>
          </a:p>
          <a:p>
            <a:pPr lvl="1"/>
            <a:r>
              <a:rPr lang="en-US">
                <a:sym typeface="Wingdings" pitchFamily="2" charset="2"/>
              </a:rPr>
              <a:t>Als benannter Wrapper  keine neue Klasse</a:t>
            </a:r>
          </a:p>
          <a:p>
            <a:pPr lvl="2"/>
            <a:r>
              <a:rPr lang="en-US"/>
              <a:t>Instanz mit Ref. auf Ausdruck, Namen als Einheit </a:t>
            </a:r>
          </a:p>
          <a:p>
            <a:pPr lvl="2"/>
            <a:r>
              <a:rPr lang="en-US"/>
              <a:t>Wird nicht von Sortierung berücksichtigt! </a:t>
            </a:r>
            <a:endParaRPr lang="de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Units </a:t>
            </a:r>
            <a:endParaRPr lang="de-DE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71588"/>
            <a:ext cx="8496300" cy="518160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Compile-safety </a:t>
            </a:r>
            <a:r>
              <a:rPr lang="en-US"/>
              <a:t>reachable via Generics </a:t>
            </a:r>
          </a:p>
          <a:p>
            <a:pPr lvl="1"/>
            <a:r>
              <a:rPr lang="en-US"/>
              <a:t>Assignment Compatibility either </a:t>
            </a:r>
          </a:p>
          <a:p>
            <a:pPr lvl="2"/>
            <a:r>
              <a:rPr lang="en-US"/>
              <a:t>Via </a:t>
            </a:r>
            <a:r>
              <a:rPr lang="en-US" b="1"/>
              <a:t>Implementation / Inheritance</a:t>
            </a:r>
            <a:r>
              <a:rPr lang="en-US"/>
              <a:t> or </a:t>
            </a:r>
          </a:p>
          <a:p>
            <a:pPr lvl="2"/>
            <a:r>
              <a:rPr lang="en-US"/>
              <a:t>Via </a:t>
            </a:r>
            <a:r>
              <a:rPr lang="en-US" b="1">
                <a:solidFill>
                  <a:srgbClr val="FF0000"/>
                </a:solidFill>
              </a:rPr>
              <a:t>implicit Conversion</a:t>
            </a:r>
            <a:r>
              <a:rPr lang="en-US"/>
              <a:t> (alternative Mechanism!!!)</a:t>
            </a:r>
          </a:p>
          <a:p>
            <a:r>
              <a:rPr lang="en-US"/>
              <a:t>Dimension measurable with different Units </a:t>
            </a:r>
          </a:p>
          <a:p>
            <a:pPr lvl="1"/>
            <a:r>
              <a:rPr lang="en-US"/>
              <a:t>Same Origin or different Origin (Temperature) </a:t>
            </a:r>
          </a:p>
          <a:p>
            <a:r>
              <a:rPr lang="en-US"/>
              <a:t>Each Dimension is Part of a VectorSpace </a:t>
            </a:r>
          </a:p>
          <a:p>
            <a:pPr lvl="1"/>
            <a:r>
              <a:rPr lang="en-US"/>
              <a:t>Addition, Scalar Multiplication </a:t>
            </a:r>
          </a:p>
          <a:p>
            <a:pPr lvl="1"/>
            <a:r>
              <a:rPr lang="en-US"/>
              <a:t>Some Dimensions are rotatable </a:t>
            </a:r>
          </a:p>
          <a:p>
            <a:pPr lvl="2"/>
            <a:r>
              <a:rPr lang="en-US"/>
              <a:t>Even Time rotates with Space at high Velocities! </a:t>
            </a:r>
            <a:endParaRPr lang="de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for Units </a:t>
            </a:r>
            <a:endParaRPr lang="de-DE"/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038725"/>
          </a:xfrm>
        </p:spPr>
        <p:txBody>
          <a:bodyPr/>
          <a:lstStyle/>
          <a:p>
            <a:r>
              <a:rPr lang="en-US"/>
              <a:t>Unchanging Conversion should be allowed for all undimensioned Classes </a:t>
            </a:r>
          </a:p>
          <a:p>
            <a:pPr lvl="1"/>
            <a:r>
              <a:rPr lang="en-US"/>
              <a:t>Double, Long, float, int, Complex etc. </a:t>
            </a:r>
          </a:p>
          <a:p>
            <a:r>
              <a:rPr lang="en-US"/>
              <a:t>Changing Conversion should be allowed for all Classes of the same Dimension </a:t>
            </a:r>
          </a:p>
          <a:p>
            <a:pPr lvl="1"/>
            <a:r>
              <a:rPr lang="en-US"/>
              <a:t>Conversions are more flexible than Casts </a:t>
            </a:r>
          </a:p>
          <a:p>
            <a:pPr lvl="1"/>
            <a:r>
              <a:rPr lang="en-US"/>
              <a:t>They save implementing explicit Overloads </a:t>
            </a:r>
          </a:p>
          <a:p>
            <a:r>
              <a:rPr lang="en-US"/>
              <a:t>Conversion should NOT be allowed for Classes of differing Dimension. </a:t>
            </a:r>
            <a:endParaRPr lang="de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for Units</a:t>
            </a:r>
            <a:endParaRPr lang="de-DE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00200"/>
            <a:ext cx="8353425" cy="4525963"/>
          </a:xfrm>
        </p:spPr>
        <p:txBody>
          <a:bodyPr/>
          <a:lstStyle/>
          <a:p>
            <a:r>
              <a:rPr lang="en-US"/>
              <a:t>To programmatically enforce these Constraints, they are associated to Classes</a:t>
            </a:r>
          </a:p>
          <a:p>
            <a:pPr lvl="1"/>
            <a:r>
              <a:rPr lang="en-US"/>
              <a:t>Class Info is there anyway (VMT-Pointer) </a:t>
            </a:r>
          </a:p>
          <a:p>
            <a:pPr lvl="1"/>
            <a:r>
              <a:rPr lang="en-US"/>
              <a:t>Conversion Factor either static or as VMethod</a:t>
            </a:r>
          </a:p>
          <a:p>
            <a:pPr lvl="2"/>
            <a:r>
              <a:rPr lang="en-US"/>
              <a:t>More efficient than in each Member </a:t>
            </a:r>
          </a:p>
          <a:p>
            <a:r>
              <a:rPr lang="en-US"/>
              <a:t>This Type Information must be used and retained on implicit Conversion. </a:t>
            </a:r>
          </a:p>
          <a:p>
            <a:r>
              <a:rPr lang="en-US"/>
              <a:t>Only explicit Conversions may lose it. </a:t>
            </a:r>
            <a:endParaRPr lang="de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/>
          <a:lstStyle/>
          <a:p>
            <a:r>
              <a:rPr lang="en-US"/>
              <a:t>Alternative Unit Implementations</a:t>
            </a:r>
            <a:endParaRPr lang="de-DE"/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038725"/>
          </a:xfrm>
        </p:spPr>
        <p:txBody>
          <a:bodyPr/>
          <a:lstStyle/>
          <a:p>
            <a:r>
              <a:rPr lang="en-US"/>
              <a:t>Only Base Unit (with Conversion Methods) </a:t>
            </a:r>
          </a:p>
          <a:p>
            <a:pPr lvl="1"/>
            <a:r>
              <a:rPr lang="en-US"/>
              <a:t>Fastest, smallest (only double), not extensible</a:t>
            </a:r>
          </a:p>
          <a:p>
            <a:r>
              <a:rPr lang="en-US"/>
              <a:t>Value + Unit Reference per Dimension</a:t>
            </a:r>
          </a:p>
          <a:p>
            <a:pPr lvl="1"/>
            <a:r>
              <a:rPr lang="en-US"/>
              <a:t>Fast, larger (+Ref), extensible </a:t>
            </a:r>
          </a:p>
          <a:p>
            <a:r>
              <a:rPr lang="en-US"/>
              <a:t>Many Unit Classes per Dimension</a:t>
            </a:r>
          </a:p>
          <a:p>
            <a:pPr lvl="1"/>
            <a:r>
              <a:rPr lang="en-US"/>
              <a:t>Extensible; </a:t>
            </a:r>
            <a:r>
              <a:rPr lang="en-US" b="1"/>
              <a:t>Converters create Overhead</a:t>
            </a:r>
            <a:r>
              <a:rPr lang="en-US"/>
              <a:t> </a:t>
            </a:r>
          </a:p>
          <a:p>
            <a:r>
              <a:rPr lang="en-US"/>
              <a:t>Mixed G-adic Representations </a:t>
            </a:r>
          </a:p>
          <a:p>
            <a:pPr lvl="1"/>
            <a:r>
              <a:rPr lang="en-US"/>
              <a:t>complex, not extensible, </a:t>
            </a:r>
          </a:p>
          <a:p>
            <a:pPr lvl="1"/>
            <a:r>
              <a:rPr lang="en-US"/>
              <a:t>Natural for Time, imperial Length, Angles </a:t>
            </a:r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Implicit Conversion vs. Inheritance</a:t>
            </a:r>
            <a:endParaRPr lang="de-DE" sz="400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71588"/>
            <a:ext cx="8496300" cy="5397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Conversion has same Syntax as Cast, BUT </a:t>
            </a:r>
          </a:p>
          <a:p>
            <a:pPr lvl="1">
              <a:lnSpc>
                <a:spcPct val="90000"/>
              </a:lnSpc>
            </a:pPr>
            <a:r>
              <a:rPr lang="en-US"/>
              <a:t>it creates a new Object </a:t>
            </a:r>
          </a:p>
          <a:p>
            <a:pPr lvl="1">
              <a:lnSpc>
                <a:spcPct val="90000"/>
              </a:lnSpc>
            </a:pPr>
            <a:r>
              <a:rPr lang="en-US"/>
              <a:t>Incurs Processing, Heap AND GC Overhead </a:t>
            </a:r>
          </a:p>
          <a:p>
            <a:pPr lvl="1">
              <a:lnSpc>
                <a:spcPct val="90000"/>
              </a:lnSpc>
            </a:pPr>
            <a:r>
              <a:rPr lang="en-US"/>
              <a:t>Only direct, single Conversions allowed </a:t>
            </a:r>
          </a:p>
          <a:p>
            <a:pPr>
              <a:lnSpc>
                <a:spcPct val="90000"/>
              </a:lnSpc>
            </a:pPr>
            <a:r>
              <a:rPr lang="en-US"/>
              <a:t>Single Inheritance hinders liberal Assignment and Implementation Mixing; </a:t>
            </a:r>
          </a:p>
          <a:p>
            <a:pPr lvl="1">
              <a:lnSpc>
                <a:spcPct val="90000"/>
              </a:lnSpc>
            </a:pPr>
            <a:r>
              <a:rPr lang="en-US"/>
              <a:t>Bridge Pattern and Interface Inheritance </a:t>
            </a:r>
            <a:br>
              <a:rPr lang="en-US"/>
            </a:br>
            <a:r>
              <a:rPr lang="en-US"/>
              <a:t>for Implementation Mixing </a:t>
            </a:r>
          </a:p>
          <a:p>
            <a:pPr lvl="1">
              <a:lnSpc>
                <a:spcPct val="90000"/>
              </a:lnSpc>
            </a:pPr>
            <a:r>
              <a:rPr lang="en-US"/>
              <a:t>Implicit Conversion for Assignment </a:t>
            </a:r>
          </a:p>
          <a:p>
            <a:pPr>
              <a:lnSpc>
                <a:spcPct val="90000"/>
              </a:lnSpc>
            </a:pPr>
            <a:r>
              <a:rPr lang="en-US"/>
              <a:t>No Conversion from/to Interface by Design </a:t>
            </a:r>
          </a:p>
          <a:p>
            <a:pPr lvl="1">
              <a:lnSpc>
                <a:spcPct val="90000"/>
              </a:lnSpc>
            </a:pPr>
            <a:r>
              <a:rPr lang="en-US"/>
              <a:t>To avoid Ambiguity and keep Cast separate </a:t>
            </a:r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Conversion complements Inheritance</a:t>
            </a:r>
            <a:endParaRPr lang="de-DE" sz="400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4525963"/>
          </a:xfrm>
        </p:spPr>
        <p:txBody>
          <a:bodyPr/>
          <a:lstStyle/>
          <a:p>
            <a:r>
              <a:rPr lang="en-US"/>
              <a:t>Increases Assigment Compatibility and Readability </a:t>
            </a:r>
          </a:p>
          <a:p>
            <a:r>
              <a:rPr lang="en-US"/>
              <a:t>Implicit Conversion should only be defined for reversible, Information-preserving Trafos </a:t>
            </a:r>
          </a:p>
          <a:p>
            <a:pPr lvl="1"/>
            <a:r>
              <a:rPr lang="en-US"/>
              <a:t>This includes Dimension Preservation! </a:t>
            </a:r>
          </a:p>
          <a:p>
            <a:pPr lvl="1"/>
            <a:r>
              <a:rPr lang="en-US"/>
              <a:t>Implicitness may hide unnecessary Conversions </a:t>
            </a:r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Compile- 	vs. 		Runtime</a:t>
            </a:r>
            <a:endParaRPr lang="de-DE"/>
          </a:p>
        </p:txBody>
      </p:sp>
      <p:sp>
        <p:nvSpPr>
          <p:cNvPr id="38914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/>
              <a:t>Compile-Time </a:t>
            </a:r>
          </a:p>
          <a:p>
            <a:r>
              <a:rPr lang="en-US"/>
              <a:t>Mostly Type-Safe </a:t>
            </a:r>
          </a:p>
          <a:p>
            <a:r>
              <a:rPr lang="en-US"/>
              <a:t>Formal Type is sufficient, but relies on Polymorphy </a:t>
            </a:r>
          </a:p>
          <a:p>
            <a:r>
              <a:rPr lang="en-US"/>
              <a:t>Requires DownCasts sometimes </a:t>
            </a:r>
          </a:p>
          <a:p>
            <a:r>
              <a:rPr lang="en-US"/>
              <a:t>Faster, due to Lookup </a:t>
            </a:r>
            <a:r>
              <a:rPr lang="en-US" b="1"/>
              <a:t>during Compilation</a:t>
            </a:r>
            <a:endParaRPr lang="de-DE" b="1"/>
          </a:p>
        </p:txBody>
      </p:sp>
      <p:sp>
        <p:nvSpPr>
          <p:cNvPr id="38915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Runtime </a:t>
            </a:r>
          </a:p>
          <a:p>
            <a:r>
              <a:rPr lang="en-US"/>
              <a:t>Concrete Type is unknown </a:t>
            </a:r>
          </a:p>
          <a:p>
            <a:pPr lvl="1"/>
            <a:r>
              <a:rPr lang="en-US"/>
              <a:t>CoVariance may help </a:t>
            </a:r>
          </a:p>
          <a:p>
            <a:r>
              <a:rPr lang="en-US"/>
              <a:t>Requires Tests sometimes </a:t>
            </a:r>
          </a:p>
          <a:p>
            <a:endParaRPr lang="de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Compile-	vs. 		Runtime</a:t>
            </a:r>
            <a:endParaRPr lang="de-DE"/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Provide </a:t>
            </a:r>
            <a:r>
              <a:rPr lang="en-US" b="1"/>
              <a:t>many </a:t>
            </a:r>
            <a:r>
              <a:rPr lang="en-US"/>
              <a:t>overloaded Methods with strict Typing</a:t>
            </a:r>
          </a:p>
          <a:p>
            <a:pPr lvl="1"/>
            <a:r>
              <a:rPr lang="en-US"/>
              <a:t>Faster Resolution at Compile-Time </a:t>
            </a:r>
          </a:p>
          <a:p>
            <a:r>
              <a:rPr lang="en-US"/>
              <a:t>Provide one generic Dispatcher for untyped Situations </a:t>
            </a:r>
            <a:endParaRPr lang="de-D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Invocation Perfomance</a:t>
            </a:r>
            <a:endParaRPr lang="de-DE"/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9144000" cy="5472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Static and non polymorphic Methods fastest </a:t>
            </a:r>
          </a:p>
          <a:p>
            <a:pPr>
              <a:lnSpc>
                <a:spcPct val="90000"/>
              </a:lnSpc>
            </a:pPr>
            <a:r>
              <a:rPr lang="en-US"/>
              <a:t>Value-Types are copied (into Registers) </a:t>
            </a:r>
          </a:p>
          <a:p>
            <a:pPr lvl="1">
              <a:lnSpc>
                <a:spcPct val="90000"/>
              </a:lnSpc>
            </a:pPr>
            <a:r>
              <a:rPr lang="en-US"/>
              <a:t>Reference Types need Heap Lookup </a:t>
            </a:r>
          </a:p>
          <a:p>
            <a:pPr>
              <a:lnSpc>
                <a:spcPct val="90000"/>
              </a:lnSpc>
            </a:pPr>
            <a:r>
              <a:rPr lang="en-US"/>
              <a:t>Polymorphic Methods use indexed VMT Jump</a:t>
            </a:r>
            <a:endParaRPr lang="de-DE"/>
          </a:p>
          <a:p>
            <a:pPr>
              <a:lnSpc>
                <a:spcPct val="90000"/>
              </a:lnSpc>
            </a:pPr>
            <a:r>
              <a:rPr lang="en-US"/>
              <a:t>Interface Methods don’t use a VMT </a:t>
            </a:r>
            <a:endParaRPr lang="de-DE"/>
          </a:p>
          <a:p>
            <a:pPr>
              <a:lnSpc>
                <a:spcPct val="90000"/>
              </a:lnSpc>
            </a:pPr>
            <a:r>
              <a:rPr lang="de-DE"/>
              <a:t>In C#2.0 interface method invocations on value types (uses a generics parameters) will not cause the value to be boxed </a:t>
            </a:r>
          </a:p>
          <a:p>
            <a:pPr>
              <a:lnSpc>
                <a:spcPct val="90000"/>
              </a:lnSpc>
            </a:pPr>
            <a:r>
              <a:rPr lang="en-US"/>
              <a:t>Delegates are non-polymorphic and sped up considerably in C#2.0</a:t>
            </a:r>
            <a:endParaRPr lang="de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Interval Calculation</a:t>
            </a:r>
            <a:endParaRPr lang="de-DE"/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Interval Calculation is only the binary special Case of Vector Calculation </a:t>
            </a:r>
          </a:p>
          <a:p>
            <a:pPr lvl="1"/>
            <a:r>
              <a:rPr lang="en-US"/>
              <a:t>So rather perform all Operations on a Vector </a:t>
            </a:r>
          </a:p>
          <a:p>
            <a:pPr lvl="1"/>
            <a:r>
              <a:rPr lang="en-US"/>
              <a:t>The Vector can be used for Interpolation </a:t>
            </a:r>
            <a:endParaRPr lang="de-D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Tensor Multiplication</a:t>
            </a:r>
            <a:endParaRPr lang="de-DE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Mul: elementweise; 0 wenn versch. Dim. </a:t>
            </a:r>
          </a:p>
          <a:p>
            <a:pPr>
              <a:lnSpc>
                <a:spcPct val="90000"/>
              </a:lnSpc>
            </a:pPr>
            <a:r>
              <a:rPr lang="en-US"/>
              <a:t>Map: = Sum(Mul) </a:t>
            </a:r>
          </a:p>
          <a:p>
            <a:pPr lvl="1">
              <a:lnSpc>
                <a:spcPct val="90000"/>
              </a:lnSpc>
            </a:pPr>
            <a:r>
              <a:rPr lang="en-US"/>
              <a:t>transienter Tensor ist ineffizient </a:t>
            </a:r>
          </a:p>
          <a:p>
            <a:pPr>
              <a:lnSpc>
                <a:spcPct val="90000"/>
              </a:lnSpc>
            </a:pPr>
            <a:r>
              <a:rPr lang="en-US" noProof="1"/>
              <a:t>By repeating the first and last Value for any Index Overrun or Underrun the Definition </a:t>
            </a:r>
            <a:r>
              <a:rPr lang="en-US"/>
              <a:t>can be </a:t>
            </a:r>
            <a:r>
              <a:rPr lang="en-US" noProof="1"/>
              <a:t>extended from a finite to an infinite Carrier </a:t>
            </a:r>
          </a:p>
          <a:p>
            <a:pPr>
              <a:lnSpc>
                <a:spcPct val="90000"/>
              </a:lnSpc>
            </a:pPr>
            <a:r>
              <a:rPr lang="en-US"/>
              <a:t>T</a:t>
            </a:r>
            <a:r>
              <a:rPr lang="en-US" noProof="1"/>
              <a:t>h</a:t>
            </a:r>
            <a:r>
              <a:rPr lang="en-US"/>
              <a:t>i</a:t>
            </a:r>
            <a:r>
              <a:rPr lang="en-US" noProof="1"/>
              <a:t>s allows to define an infinite Tensor without adding a Tensor of lower Degree. </a:t>
            </a:r>
          </a:p>
          <a:p>
            <a:pPr>
              <a:lnSpc>
                <a:spcPct val="90000"/>
              </a:lnSpc>
            </a:pPr>
            <a:endParaRPr lang="de-D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Leveled Tensor Operations</a:t>
            </a:r>
            <a:endParaRPr lang="de-DE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187950"/>
          </a:xfrm>
        </p:spPr>
        <p:txBody>
          <a:bodyPr/>
          <a:lstStyle/>
          <a:p>
            <a:r>
              <a:rPr lang="en-US"/>
              <a:t>Generalized leveled Addition/Multiplication</a:t>
            </a:r>
          </a:p>
          <a:p>
            <a:r>
              <a:rPr lang="en-US"/>
              <a:t>Non-commutative Addition: </a:t>
            </a:r>
          </a:p>
          <a:p>
            <a:pPr lvl="1"/>
            <a:r>
              <a:rPr lang="en-US"/>
              <a:t>Like with Map / Scalar Product: </a:t>
            </a:r>
          </a:p>
          <a:p>
            <a:pPr lvl="2"/>
            <a:r>
              <a:rPr lang="en-US"/>
              <a:t>Left Tensor recourses down until TensorLevel = 1</a:t>
            </a:r>
          </a:p>
          <a:p>
            <a:pPr lvl="2"/>
            <a:r>
              <a:rPr lang="en-US">
                <a:sym typeface="Wingdings" pitchFamily="2" charset="2"/>
              </a:rPr>
              <a:t> non-commutative </a:t>
            </a:r>
          </a:p>
          <a:p>
            <a:r>
              <a:rPr lang="en-US"/>
              <a:t>Commutative Addition: </a:t>
            </a:r>
          </a:p>
          <a:p>
            <a:pPr lvl="1"/>
            <a:r>
              <a:rPr lang="en-US"/>
              <a:t>Like with Addition / Multiplication: </a:t>
            </a:r>
          </a:p>
          <a:p>
            <a:pPr lvl="2"/>
            <a:r>
              <a:rPr lang="en-US"/>
              <a:t>Left and right Tensor recourse down in Parallel</a:t>
            </a:r>
          </a:p>
          <a:p>
            <a:pPr lvl="2"/>
            <a:r>
              <a:rPr lang="en-US">
                <a:sym typeface="Wingdings" pitchFamily="2" charset="2"/>
              </a:rPr>
              <a:t> commutative </a:t>
            </a:r>
          </a:p>
          <a:p>
            <a:pPr lvl="2"/>
            <a:endParaRPr lang="de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Parallele Ausführung </a:t>
            </a:r>
            <a:endParaRPr lang="de-DE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71588"/>
            <a:ext cx="8785225" cy="5181600"/>
          </a:xfrm>
        </p:spPr>
        <p:txBody>
          <a:bodyPr/>
          <a:lstStyle/>
          <a:p>
            <a:r>
              <a:rPr lang="en-US"/>
              <a:t>Vector Operationen </a:t>
            </a:r>
          </a:p>
          <a:p>
            <a:pPr lvl="1"/>
            <a:r>
              <a:rPr lang="en-US"/>
              <a:t>+,-,*,/,&amp;,| mit Vektoren oder Skalaren </a:t>
            </a:r>
          </a:p>
          <a:p>
            <a:r>
              <a:rPr lang="en-US"/>
              <a:t>Scalar Product </a:t>
            </a:r>
          </a:p>
          <a:p>
            <a:r>
              <a:rPr lang="en-US"/>
              <a:t>Splitting Arguments in even and odd Pair</a:t>
            </a:r>
          </a:p>
          <a:p>
            <a:pPr lvl="1"/>
            <a:r>
              <a:rPr lang="en-US"/>
              <a:t>Recursive Horner Evaluation </a:t>
            </a:r>
          </a:p>
          <a:p>
            <a:pPr lvl="2"/>
            <a:r>
              <a:rPr lang="en-US"/>
              <a:t>c0+c1*x, c2+c3*x, c4+c5*x, c6+c7*x, …</a:t>
            </a:r>
          </a:p>
          <a:p>
            <a:pPr lvl="2"/>
            <a:r>
              <a:rPr lang="en-US"/>
              <a:t>(c0+c1*x)+(c2+c3*x)*x², (c4+c5*x)+(c6+c7*x)*x², …</a:t>
            </a:r>
          </a:p>
          <a:p>
            <a:pPr lvl="2"/>
            <a:r>
              <a:rPr lang="en-US"/>
              <a:t>((c0+c1*x)+(c2+c3*x)*x²)+((c4+c5*x)+(c6+c7*x)*x²)*x^4</a:t>
            </a:r>
          </a:p>
          <a:p>
            <a:pPr lvl="1"/>
            <a:r>
              <a:rPr lang="en-US"/>
              <a:t>Tridiagonale Gleichungssysteme </a:t>
            </a:r>
          </a:p>
          <a:p>
            <a:pPr lvl="1"/>
            <a:r>
              <a:rPr lang="en-US"/>
              <a:t>Matrix-Multiplikation </a:t>
            </a:r>
            <a:endParaRPr lang="de-D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Parallele Ausführung</a:t>
            </a:r>
            <a:endParaRPr lang="de-DE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4525963"/>
          </a:xfrm>
        </p:spPr>
        <p:txBody>
          <a:bodyPr/>
          <a:lstStyle/>
          <a:p>
            <a:r>
              <a:rPr lang="en-US"/>
              <a:t>SISD: Single Instruction on Single Data </a:t>
            </a:r>
          </a:p>
          <a:p>
            <a:r>
              <a:rPr lang="en-US"/>
              <a:t>SIMD: Single Instruction on Multiple Data </a:t>
            </a:r>
          </a:p>
          <a:p>
            <a:pPr lvl="1"/>
            <a:r>
              <a:rPr lang="en-US"/>
              <a:t>Overseeable, since most Scientific Problems have a Data Dimension</a:t>
            </a:r>
          </a:p>
          <a:p>
            <a:r>
              <a:rPr lang="en-US"/>
              <a:t>MIMD: Multiple Instructions on Multiple Data </a:t>
            </a:r>
          </a:p>
          <a:p>
            <a:pPr lvl="1"/>
            <a:r>
              <a:rPr lang="en-US"/>
              <a:t>Debugging Nightmare </a:t>
            </a:r>
            <a:endParaRPr lang="de-D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Implementations</a:t>
            </a:r>
            <a:endParaRPr lang="de-DE"/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3025"/>
            <a:ext cx="8496300" cy="5038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Template Interface: </a:t>
            </a:r>
          </a:p>
          <a:p>
            <a:pPr lvl="1">
              <a:lnSpc>
                <a:spcPct val="90000"/>
              </a:lnSpc>
            </a:pPr>
            <a:r>
              <a:rPr lang="en-US"/>
              <a:t>IStruct&lt;T&gt; {T plus(T t); T times(T t); </a:t>
            </a:r>
            <a:br>
              <a:rPr lang="en-US"/>
            </a:br>
            <a:r>
              <a:rPr lang="en-US"/>
              <a:t>	T minus(T t); T add(T t); T dividedBy(T t); </a:t>
            </a:r>
            <a:br>
              <a:rPr lang="en-US"/>
            </a:br>
            <a:r>
              <a:rPr lang="en-US"/>
              <a:t>	T opposite(); }</a:t>
            </a:r>
            <a:endParaRPr lang="de-DE"/>
          </a:p>
          <a:p>
            <a:pPr>
              <a:lnSpc>
                <a:spcPct val="90000"/>
              </a:lnSpc>
            </a:pPr>
            <a:r>
              <a:rPr lang="en-US" b="1"/>
              <a:t>Common Base Interface </a:t>
            </a:r>
            <a:r>
              <a:rPr lang="en-US"/>
              <a:t>necessary for </a:t>
            </a:r>
            <a:r>
              <a:rPr lang="en-US" b="1"/>
              <a:t>Operations Availability </a:t>
            </a:r>
          </a:p>
          <a:p>
            <a:pPr>
              <a:lnSpc>
                <a:spcPct val="90000"/>
              </a:lnSpc>
            </a:pPr>
            <a:r>
              <a:rPr lang="en-US" b="1"/>
              <a:t>Concrete </a:t>
            </a:r>
            <a:r>
              <a:rPr lang="en-US"/>
              <a:t>Base Class necessary for </a:t>
            </a:r>
            <a:br>
              <a:rPr lang="en-US"/>
            </a:br>
            <a:r>
              <a:rPr lang="en-US" b="1"/>
              <a:t>Conversion and Operators </a:t>
            </a:r>
            <a:br>
              <a:rPr lang="en-US"/>
            </a:br>
            <a:r>
              <a:rPr lang="en-US">
                <a:sym typeface="Wingdings" pitchFamily="2" charset="2"/>
              </a:rPr>
              <a:t> step-wise Implementation needs AsT and nextItem() Functions to cast and create</a:t>
            </a:r>
            <a:endParaRPr lang="de-DE"/>
          </a:p>
          <a:p>
            <a:pPr lvl="1">
              <a:lnSpc>
                <a:spcPct val="90000"/>
              </a:lnSpc>
            </a:pPr>
            <a:endParaRPr lang="de-D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Konvertierung einschränken</a:t>
            </a:r>
            <a:endParaRPr lang="de-DE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71588"/>
            <a:ext cx="864235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Implizite Konvertierung ist sehr versteckt </a:t>
            </a:r>
          </a:p>
          <a:p>
            <a:pPr>
              <a:lnSpc>
                <a:spcPct val="90000"/>
              </a:lnSpc>
            </a:pPr>
            <a:r>
              <a:rPr lang="en-US"/>
              <a:t>Nur für Downcast oder Informations-erhaltende Umwandlungen </a:t>
            </a:r>
          </a:p>
          <a:p>
            <a:pPr lvl="1">
              <a:lnSpc>
                <a:spcPct val="90000"/>
              </a:lnSpc>
            </a:pPr>
            <a:r>
              <a:rPr lang="en-US"/>
              <a:t>Genaueres Zahlenformat (gröber nur explizit) </a:t>
            </a:r>
          </a:p>
          <a:p>
            <a:pPr lvl="1">
              <a:lnSpc>
                <a:spcPct val="90000"/>
              </a:lnSpc>
            </a:pPr>
            <a:r>
              <a:rPr lang="en-US"/>
              <a:t>Kaschiert trotzdem ggf. unnötige Umwandlungen </a:t>
            </a:r>
          </a:p>
          <a:p>
            <a:pPr lvl="1">
              <a:lnSpc>
                <a:spcPct val="90000"/>
              </a:lnSpc>
            </a:pPr>
            <a:r>
              <a:rPr lang="en-US"/>
              <a:t>Rechnen mit Ausdrücken abschaltbar </a:t>
            </a:r>
          </a:p>
          <a:p>
            <a:pPr lvl="2">
              <a:lnSpc>
                <a:spcPct val="90000"/>
              </a:lnSpc>
            </a:pPr>
            <a:r>
              <a:rPr lang="en-US"/>
              <a:t>bietet weniger Compile- oder Runtime Fehler </a:t>
            </a:r>
            <a:br>
              <a:rPr lang="en-US"/>
            </a:br>
            <a:r>
              <a:rPr lang="en-US"/>
              <a:t>(erlaubt wieder ‘Addition’ von Länge und Masse)</a:t>
            </a:r>
          </a:p>
          <a:p>
            <a:pPr lvl="1">
              <a:lnSpc>
                <a:spcPct val="90000"/>
              </a:lnSpc>
            </a:pPr>
            <a:r>
              <a:rPr lang="en-US"/>
              <a:t>Ohne Ausdrücke nur ‘materialisierte’ </a:t>
            </a:r>
            <a:r>
              <a:rPr lang="en-US" b="1"/>
              <a:t>Werte</a:t>
            </a:r>
            <a:r>
              <a:rPr lang="en-US"/>
              <a:t> </a:t>
            </a:r>
          </a:p>
          <a:p>
            <a:pPr lvl="2">
              <a:lnSpc>
                <a:spcPct val="90000"/>
              </a:lnSpc>
            </a:pPr>
            <a:r>
              <a:rPr lang="en-US"/>
              <a:t>Keine ‘lazy’ / deferred Evaluation, keine ‘Objekte’ </a:t>
            </a:r>
          </a:p>
          <a:p>
            <a:pPr lvl="1">
              <a:lnSpc>
                <a:spcPct val="90000"/>
              </a:lnSpc>
            </a:pPr>
            <a:r>
              <a:rPr lang="en-US"/>
              <a:t>Ausdrücke ersparen explizite Strukturen (Vektor)</a:t>
            </a:r>
            <a:endParaRPr lang="de-D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Alternativen zur Konvertierung</a:t>
            </a:r>
            <a:endParaRPr lang="de-DE"/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42350" cy="50419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Konvertierung notwendig, wenn Vererbung nicht möglich oder unerwünscht ist</a:t>
            </a:r>
          </a:p>
          <a:p>
            <a:pPr lvl="1"/>
            <a:r>
              <a:rPr lang="en-US"/>
              <a:t>Zahlenwert muss mit Einheiten wechseln. </a:t>
            </a:r>
          </a:p>
          <a:p>
            <a:r>
              <a:rPr lang="en-US"/>
              <a:t>Implizit: A a = b; 		B b = a; </a:t>
            </a:r>
          </a:p>
          <a:p>
            <a:r>
              <a:rPr lang="en-US"/>
              <a:t>Explizit: A a = (A)b; 	B b = (B)a; </a:t>
            </a:r>
          </a:p>
          <a:p>
            <a:pPr>
              <a:buFontTx/>
              <a:buNone/>
            </a:pPr>
            <a:r>
              <a:rPr lang="en-US"/>
              <a:t>Alternativen (nur ToXxx vererbbar</a:t>
            </a:r>
            <a:r>
              <a:rPr lang="en-US">
                <a:sym typeface="Wingdings" pitchFamily="2" charset="2"/>
              </a:rPr>
              <a:t>)</a:t>
            </a:r>
            <a:r>
              <a:rPr lang="en-US"/>
              <a:t>: </a:t>
            </a:r>
          </a:p>
          <a:p>
            <a:r>
              <a:rPr lang="en-US"/>
              <a:t>Konstruktor: 			A a = new A(b); </a:t>
            </a:r>
          </a:p>
          <a:p>
            <a:r>
              <a:rPr lang="en-US"/>
              <a:t>ToXxx Method: 		B b = a.ToB(); </a:t>
            </a:r>
          </a:p>
          <a:p>
            <a:endParaRPr lang="de-D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785225" cy="4852988"/>
          </a:xfrm>
        </p:spPr>
        <p:txBody>
          <a:bodyPr/>
          <a:lstStyle/>
          <a:p>
            <a:r>
              <a:rPr lang="en-US"/>
              <a:t>Parameter ohne Generics (Java &lt; 1.5): </a:t>
            </a:r>
          </a:p>
          <a:p>
            <a:pPr lvl="1"/>
            <a:r>
              <a:rPr lang="en-US"/>
              <a:t>object </a:t>
            </a:r>
            <a:r>
              <a:rPr lang="en-US">
                <a:sym typeface="Wingdings" pitchFamily="2" charset="2"/>
              </a:rPr>
              <a:t> auch int, double etc. (boxed), langsam </a:t>
            </a:r>
            <a:endParaRPr lang="en-US"/>
          </a:p>
          <a:p>
            <a:pPr lvl="1"/>
            <a:r>
              <a:rPr lang="en-US"/>
              <a:t>gemeinsame Basisklasse </a:t>
            </a:r>
            <a:r>
              <a:rPr lang="en-US">
                <a:sym typeface="Wingdings" pitchFamily="2" charset="2"/>
              </a:rPr>
              <a:t> schnell, Ausdrücke </a:t>
            </a:r>
            <a:endParaRPr lang="en-US"/>
          </a:p>
          <a:p>
            <a:r>
              <a:rPr lang="en-US"/>
              <a:t>Konkrete Klasse </a:t>
            </a:r>
            <a:r>
              <a:rPr lang="en-US">
                <a:sym typeface="Wingdings" pitchFamily="2" charset="2"/>
              </a:rPr>
              <a:t></a:t>
            </a:r>
            <a:r>
              <a:rPr lang="en-US"/>
              <a:t> Operator Overload:</a:t>
            </a:r>
          </a:p>
          <a:p>
            <a:r>
              <a:rPr lang="en-US"/>
              <a:t>Generics </a:t>
            </a:r>
            <a:r>
              <a:rPr lang="en-US">
                <a:sym typeface="Wingdings" pitchFamily="2" charset="2"/>
              </a:rPr>
              <a:t></a:t>
            </a:r>
            <a:r>
              <a:rPr lang="en-US"/>
              <a:t> typsicher, weniger kombinierbar </a:t>
            </a:r>
          </a:p>
          <a:p>
            <a:pPr lvl="1"/>
            <a:r>
              <a:rPr lang="en-US"/>
              <a:t>schnell (gleicher Typ; Compile-(not RT) Checks)</a:t>
            </a:r>
            <a:endParaRPr lang="de-DE"/>
          </a:p>
          <a:p>
            <a:r>
              <a:rPr lang="en-US"/>
              <a:t>implizite Konverter </a:t>
            </a:r>
            <a:r>
              <a:rPr lang="en-US">
                <a:sym typeface="Wingdings" pitchFamily="2" charset="2"/>
              </a:rPr>
              <a:t> </a:t>
            </a:r>
            <a:r>
              <a:rPr lang="en-US"/>
              <a:t>Kombination möglich </a:t>
            </a:r>
          </a:p>
          <a:p>
            <a:pPr lvl="1"/>
            <a:r>
              <a:rPr lang="en-US"/>
              <a:t>Wenige Overloads nötig (Konvertierung reicht)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1143000"/>
          </a:xfrm>
        </p:spPr>
        <p:txBody>
          <a:bodyPr/>
          <a:lstStyle/>
          <a:p>
            <a:r>
              <a:rPr lang="en-US"/>
              <a:t>Ausdrücke erlauben? </a:t>
            </a:r>
            <a:endParaRPr lang="de-DE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71588"/>
            <a:ext cx="8496300" cy="5181600"/>
          </a:xfrm>
        </p:spPr>
        <p:txBody>
          <a:bodyPr/>
          <a:lstStyle/>
          <a:p>
            <a:r>
              <a:rPr lang="en-US"/>
              <a:t>Ausdrücke haben keine Dimensionen; </a:t>
            </a:r>
            <a:br>
              <a:rPr lang="en-US"/>
            </a:br>
            <a:r>
              <a:rPr lang="en-US"/>
              <a:t>sie </a:t>
            </a:r>
            <a:r>
              <a:rPr lang="en-US" b="1"/>
              <a:t>immer</a:t>
            </a:r>
            <a:r>
              <a:rPr lang="en-US"/>
              <a:t> erlauben ist zu frei. </a:t>
            </a:r>
          </a:p>
          <a:p>
            <a:r>
              <a:rPr lang="en-US"/>
              <a:t>Ausdrücke global abschalten ist möglich, aber zu einschränkend </a:t>
            </a:r>
          </a:p>
          <a:p>
            <a:r>
              <a:rPr lang="en-US"/>
              <a:t>Ausdrücke als Ergebnisse zeigen Verlust der Typsicherheit an, das reicht aus. </a:t>
            </a:r>
          </a:p>
          <a:p>
            <a:pPr lvl="1"/>
            <a:r>
              <a:rPr lang="en-US"/>
              <a:t>Entscheidung dem Programmierer überlassen. </a:t>
            </a:r>
          </a:p>
          <a:p>
            <a:r>
              <a:rPr lang="en-US"/>
              <a:t>Auch bei Ausdrücken immer wieder versu-chen, konkrete Operation auszuführen. </a:t>
            </a:r>
            <a:endParaRPr lang="de-D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Null/NaN oder Fehler? </a:t>
            </a:r>
            <a:endParaRPr lang="de-DE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Nicht angegebene Werte können defaulted werden auf null, was </a:t>
            </a:r>
          </a:p>
          <a:p>
            <a:r>
              <a:rPr lang="en-US"/>
              <a:t>Unabsichtlich zu Fehlern führen kann </a:t>
            </a:r>
          </a:p>
          <a:p>
            <a:r>
              <a:rPr lang="en-US"/>
              <a:t>Zu kurze Liste oder Array sind undefiniert und sollten zu Fehlern führen statt auf 0 defaulted zu werden. </a:t>
            </a:r>
          </a:p>
          <a:p>
            <a:r>
              <a:rPr lang="en-US"/>
              <a:t>Ebenso sollten Arrays nicht auf 0 defaulted werden. </a:t>
            </a:r>
            <a:endParaRPr lang="de-DE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Typsichere Produkte &amp; Quotienten</a:t>
            </a:r>
            <a:endParaRPr lang="de-DE" sz="400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nicht einfach Prod(x,y), sondern Prod&lt;X,Y&gt;(x*y). </a:t>
            </a:r>
          </a:p>
          <a:p>
            <a:pPr lvl="1"/>
            <a:r>
              <a:rPr lang="en-US"/>
              <a:t>Komplexere Logik zur Instanziierung </a:t>
            </a:r>
          </a:p>
          <a:p>
            <a:pPr lvl="1"/>
            <a:r>
              <a:rPr lang="en-US"/>
              <a:t>Nicht per se kommutativ</a:t>
            </a:r>
          </a:p>
          <a:p>
            <a:pPr lvl="2"/>
            <a:r>
              <a:rPr lang="en-US"/>
              <a:t>Impliziter Konverter definierbar, aber nicht kaskad.</a:t>
            </a:r>
          </a:p>
          <a:p>
            <a:r>
              <a:rPr lang="en-US"/>
              <a:t>Unit Klasse zur Normalisierung der Produkte in ganzzahlige Potenzen </a:t>
            </a:r>
          </a:p>
          <a:p>
            <a:pPr lvl="1"/>
            <a:r>
              <a:rPr lang="en-US"/>
              <a:t>Rationale Potenzen nicht unterstützt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Potenz ist nur Runtime-typsicher </a:t>
            </a:r>
          </a:p>
          <a:p>
            <a:pPr lvl="1"/>
            <a:r>
              <a:rPr lang="en-US"/>
              <a:t>Erspart aber lange Produkte </a:t>
            </a:r>
          </a:p>
          <a:p>
            <a:pPr lvl="1"/>
            <a:r>
              <a:rPr lang="en-US"/>
              <a:t>Doppeldeutigkeit muss aufgelöst werden </a:t>
            </a:r>
            <a:endParaRPr lang="de-DE"/>
          </a:p>
          <a:p>
            <a:endParaRPr lang="de-DE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Ordnungsrelation in Einheiten</a:t>
            </a:r>
            <a:endParaRPr lang="de-DE"/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038725"/>
          </a:xfrm>
        </p:spPr>
        <p:txBody>
          <a:bodyPr/>
          <a:lstStyle/>
          <a:p>
            <a:r>
              <a:rPr lang="en-US">
                <a:sym typeface="Wingdings" pitchFamily="2" charset="2"/>
              </a:rPr>
              <a:t>totale Ordnungsrelation  kanonisch trotz Kommutativität und Assoziativität </a:t>
            </a:r>
          </a:p>
          <a:p>
            <a:pPr>
              <a:buFontTx/>
              <a:buNone/>
            </a:pPr>
            <a:r>
              <a:rPr lang="en-US">
                <a:sym typeface="Wingdings" pitchFamily="2" charset="2"/>
              </a:rPr>
              <a:t> Äquivalenz-Relation in </a:t>
            </a:r>
            <a:r>
              <a:rPr lang="en-US"/>
              <a:t>Produkt-Einheiten: </a:t>
            </a:r>
          </a:p>
          <a:p>
            <a:pPr lvl="1"/>
            <a:r>
              <a:rPr lang="en-US"/>
              <a:t>Produkte mit gleichen Potenzen äquivalent </a:t>
            </a:r>
          </a:p>
          <a:p>
            <a:pPr lvl="1"/>
            <a:r>
              <a:rPr lang="en-US"/>
              <a:t>Statisch typisiert </a:t>
            </a:r>
            <a:r>
              <a:rPr lang="en-US">
                <a:sym typeface="Wingdings" pitchFamily="2" charset="2"/>
              </a:rPr>
              <a:t> typsicher, aber Runtime Check notwendig! </a:t>
            </a:r>
          </a:p>
          <a:p>
            <a:pPr lvl="1"/>
            <a:r>
              <a:rPr lang="en-US"/>
              <a:t>Statische Caches für Units und Potenzen </a:t>
            </a:r>
          </a:p>
          <a:p>
            <a:pPr lvl="1"/>
            <a:r>
              <a:rPr lang="en-US"/>
              <a:t>Länge und Ordnung der Produkte irrelevant, evaluate() liefert immer Standard-Ordnung. </a:t>
            </a:r>
          </a:p>
          <a:p>
            <a:endParaRPr lang="de-DE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Kanonisierung im Konstruktor</a:t>
            </a:r>
            <a:endParaRPr lang="de-DE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4525963"/>
          </a:xfrm>
        </p:spPr>
        <p:txBody>
          <a:bodyPr/>
          <a:lstStyle/>
          <a:p>
            <a:r>
              <a:rPr lang="en-US"/>
              <a:t>Leider ‘early’ </a:t>
            </a:r>
            <a:r>
              <a:rPr lang="en-US">
                <a:sym typeface="Wingdings" pitchFamily="2" charset="2"/>
              </a:rPr>
              <a:t> eager  teuer </a:t>
            </a:r>
          </a:p>
          <a:p>
            <a:r>
              <a:rPr lang="en-US">
                <a:sym typeface="Wingdings" pitchFamily="2" charset="2"/>
              </a:rPr>
              <a:t>Nicht möglich, wenn global kanonisiert werden muss (z.B. kommutative Strukturen!)</a:t>
            </a:r>
          </a:p>
          <a:p>
            <a:r>
              <a:rPr lang="en-US">
                <a:sym typeface="Wingdings" pitchFamily="2" charset="2"/>
              </a:rPr>
              <a:t>Aber sicher und zentral!!! </a:t>
            </a:r>
          </a:p>
          <a:p>
            <a:pPr lvl="1"/>
            <a:r>
              <a:rPr lang="en-US"/>
              <a:t>Nicht zu teuer, wenn nur Länge normalisiert</a:t>
            </a:r>
            <a:endParaRPr lang="de-DE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/>
              <a:t>‘1’ konvertierbar in ALLE Einheiten?</a:t>
            </a:r>
            <a:endParaRPr lang="de-DE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Pro: Offset von DataSeries </a:t>
            </a:r>
          </a:p>
          <a:p>
            <a:pPr lvl="1"/>
            <a:r>
              <a:rPr lang="en-US"/>
              <a:t>VectorDbl*&lt;Dimension&gt; + 5*&lt;Dimension&gt;</a:t>
            </a:r>
          </a:p>
          <a:p>
            <a:pPr lvl="1"/>
            <a:r>
              <a:rPr lang="en-US"/>
              <a:t>Vectors of same Dimension </a:t>
            </a:r>
          </a:p>
          <a:p>
            <a:r>
              <a:rPr lang="en-US"/>
              <a:t>Con: Sparse Vectors: </a:t>
            </a:r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Typ- oder Instanz-Parameter?</a:t>
            </a:r>
            <a:endParaRPr lang="de-DE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496300" cy="4525963"/>
          </a:xfrm>
        </p:spPr>
        <p:txBody>
          <a:bodyPr/>
          <a:lstStyle/>
          <a:p>
            <a:r>
              <a:rPr lang="en-US"/>
              <a:t>Ein Instanz-Parameter ist immer flexibler! </a:t>
            </a:r>
          </a:p>
          <a:p>
            <a:pPr lvl="1"/>
            <a:r>
              <a:rPr lang="en-US"/>
              <a:t>Polymorphe Factory &amp; Interface Methoden </a:t>
            </a:r>
          </a:p>
          <a:p>
            <a:pPr lvl="1"/>
            <a:r>
              <a:rPr lang="en-US"/>
              <a:t>Kann Daten (über-)tragen </a:t>
            </a:r>
          </a:p>
          <a:p>
            <a:pPr lvl="1"/>
            <a:r>
              <a:rPr lang="en-US"/>
              <a:t>Typ immer noch über GetType() ermittelbar </a:t>
            </a:r>
          </a:p>
          <a:p>
            <a:r>
              <a:rPr lang="en-US"/>
              <a:t>Generische Parameter </a:t>
            </a:r>
            <a:r>
              <a:rPr lang="en-US">
                <a:sym typeface="Wingdings" pitchFamily="2" charset="2"/>
              </a:rPr>
              <a:t> typisierte Instanz</a:t>
            </a:r>
            <a:endParaRPr lang="en-US"/>
          </a:p>
          <a:p>
            <a:r>
              <a:rPr lang="en-US"/>
              <a:t>Erweiterung des Prototype-Patterns </a:t>
            </a:r>
          </a:p>
          <a:p>
            <a:pPr lvl="1"/>
            <a:r>
              <a:rPr lang="en-US"/>
              <a:t>Jede Instanz ist seine eigene abstract Factory! </a:t>
            </a:r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/>
              <a:t>Container-Klassen</a:t>
            </a:r>
            <a:endParaRPr lang="de-DE"/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619750"/>
          </a:xfrm>
        </p:spPr>
        <p:txBody>
          <a:bodyPr/>
          <a:lstStyle/>
          <a:p>
            <a:r>
              <a:rPr lang="en-US"/>
              <a:t>Generic&lt;T&gt; where T : Generic&lt;T&gt; {</a:t>
            </a:r>
          </a:p>
          <a:p>
            <a:pPr lvl="1"/>
            <a:r>
              <a:rPr lang="en-US"/>
              <a:t>T New(…) { … } //Generic Variance </a:t>
            </a:r>
          </a:p>
          <a:p>
            <a:pPr lvl="1"/>
            <a:r>
              <a:rPr lang="en-US"/>
              <a:t>T AsT { get { return this; } }</a:t>
            </a:r>
          </a:p>
          <a:p>
            <a:pPr lvl="1"/>
            <a:r>
              <a:rPr lang="en-US"/>
              <a:t>T Add/ Remove(V); //immutable, chainable </a:t>
            </a:r>
          </a:p>
          <a:p>
            <a:pPr lvl="1"/>
            <a:r>
              <a:rPr lang="en-US"/>
              <a:t>T Find(V); // Value CoVariant </a:t>
            </a:r>
          </a:p>
          <a:p>
            <a:pPr lvl="1"/>
            <a:r>
              <a:rPr lang="en-US"/>
              <a:t>T nextItem(); //removes Item from Container </a:t>
            </a:r>
          </a:p>
          <a:p>
            <a:pPr lvl="1"/>
            <a:r>
              <a:rPr lang="en-US"/>
              <a:t>IEnumerator&lt;T&gt; //leaves Items in Container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3863"/>
            <a:ext cx="8229600" cy="844550"/>
          </a:xfrm>
        </p:spPr>
        <p:txBody>
          <a:bodyPr/>
          <a:lstStyle/>
          <a:p>
            <a:r>
              <a:rPr lang="en-US"/>
              <a:t>Streams (lazy Evaluation)</a:t>
            </a:r>
            <a:endParaRPr lang="de-DE"/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3025"/>
            <a:ext cx="8496300" cy="5181600"/>
          </a:xfrm>
        </p:spPr>
        <p:txBody>
          <a:bodyPr/>
          <a:lstStyle/>
          <a:p>
            <a:r>
              <a:rPr lang="en-US" sz="2800"/>
              <a:t>IStreamOut&lt;V&gt; { //coVariant in V: </a:t>
            </a:r>
          </a:p>
          <a:p>
            <a:pPr lvl="1"/>
            <a:r>
              <a:rPr lang="en-US" sz="2400"/>
              <a:t>IStreamOut&lt;V&gt; addItem(V item); //Immutable, chaining</a:t>
            </a:r>
          </a:p>
          <a:p>
            <a:pPr lvl="1"/>
            <a:r>
              <a:rPr lang="en-US" sz="2400"/>
              <a:t>addItems(V[]/IEnumerator&lt;V&gt; items); //sizing</a:t>
            </a:r>
          </a:p>
          <a:p>
            <a:pPr lvl="1"/>
            <a:r>
              <a:rPr lang="en-US" sz="2400"/>
              <a:t>addItems&lt;U&gt;(U[]/IEnumerator&lt;U&gt;) where U : V</a:t>
            </a:r>
          </a:p>
          <a:p>
            <a:r>
              <a:rPr lang="en-US" sz="2800"/>
              <a:t>IStreamIn_&lt;V&gt; { //Immutable &amp; V contraVariant </a:t>
            </a:r>
          </a:p>
          <a:p>
            <a:pPr lvl="1"/>
            <a:r>
              <a:rPr lang="en-US" sz="2400"/>
              <a:t>V Current { get; } //equiv. to Peek (minEl) </a:t>
            </a:r>
          </a:p>
          <a:p>
            <a:pPr lvl="1"/>
            <a:r>
              <a:rPr lang="en-US" sz="2400"/>
              <a:t>IStreamIn&lt;V&gt; MoveNext() //removes from Container </a:t>
            </a:r>
          </a:p>
          <a:p>
            <a:pPr lvl="1"/>
            <a:r>
              <a:rPr lang="en-US" sz="2400"/>
              <a:t>Bulking &amp; Sizing (2 Calls too expensive (reach deep!)): </a:t>
            </a:r>
          </a:p>
          <a:p>
            <a:pPr lvl="2"/>
            <a:r>
              <a:rPr lang="en-US" sz="2000"/>
              <a:t>int Available(); //as fast as bool MoveNext()</a:t>
            </a:r>
          </a:p>
          <a:p>
            <a:pPr lvl="2"/>
            <a:r>
              <a:rPr lang="en-US" sz="2000"/>
              <a:t>V nextItem(); bis Available(); geht nicht für immutable!</a:t>
            </a:r>
          </a:p>
          <a:p>
            <a:pPr lvl="2"/>
            <a:r>
              <a:rPr lang="en-US" sz="2000"/>
              <a:t>int Fill&lt;U&gt;(U[] arr, stop, start) where V : U </a:t>
            </a:r>
            <a:endParaRPr lang="de-DE" sz="2000"/>
          </a:p>
          <a:p>
            <a:pPr lvl="2"/>
            <a:r>
              <a:rPr lang="en-US" sz="2000"/>
              <a:t>int Stream&lt;U&gt;(IStreamOut&lt;U&gt; container) where V : U </a:t>
            </a:r>
            <a:endParaRPr lang="de-DE"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IEnumerator&lt;V&gt;: V Current, bool MoveNext </a:t>
            </a:r>
            <a:endParaRPr lang="de-DE"/>
          </a:p>
          <a:p>
            <a:endParaRPr lang="de-DE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Streams of Objects</a:t>
            </a:r>
            <a:endParaRPr lang="de-DE"/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Streams allow for lazy Evaluation / Piping</a:t>
            </a:r>
          </a:p>
          <a:p>
            <a:r>
              <a:rPr lang="en-US"/>
              <a:t>Batch &amp; Transaction Size is minimal </a:t>
            </a:r>
          </a:p>
          <a:p>
            <a:pPr lvl="1"/>
            <a:r>
              <a:rPr lang="en-US"/>
              <a:t>Full Object (-Graphs) guarantee Synchronicity </a:t>
            </a:r>
          </a:p>
          <a:p>
            <a:pPr lvl="1"/>
            <a:r>
              <a:rPr lang="en-US"/>
              <a:t>Combining several Objects into one requires new (dynamic) Classes </a:t>
            </a:r>
          </a:p>
          <a:p>
            <a:pPr lvl="2"/>
            <a:r>
              <a:rPr lang="en-US"/>
              <a:t>Dynamic Languages reduce Design Time for this </a:t>
            </a:r>
          </a:p>
          <a:p>
            <a:pPr lvl="1"/>
            <a:r>
              <a:rPr lang="en-US"/>
              <a:t>Alternatively, Generics allow to combine Objects in a typesafe manner </a:t>
            </a:r>
            <a:endParaRPr lang="de-DE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Streaming or indexed Access?</a:t>
            </a:r>
            <a:endParaRPr lang="de-DE"/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506888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Minimale Methoden, darstellbar als Delegates: </a:t>
            </a:r>
          </a:p>
          <a:p>
            <a:pPr>
              <a:lnSpc>
                <a:spcPct val="90000"/>
              </a:lnSpc>
            </a:pPr>
            <a:r>
              <a:rPr lang="en-US"/>
              <a:t>Streams: nextItem mit int.minValue</a:t>
            </a:r>
          </a:p>
          <a:p>
            <a:pPr lvl="1">
              <a:lnSpc>
                <a:spcPct val="90000"/>
              </a:lnSpc>
            </a:pPr>
            <a:r>
              <a:rPr lang="en-US"/>
              <a:t>Oder mit zweitem Return-Value: TryGetNext() </a:t>
            </a:r>
          </a:p>
          <a:p>
            <a:pPr lvl="1">
              <a:lnSpc>
                <a:spcPct val="90000"/>
              </a:lnSpc>
            </a:pPr>
            <a:r>
              <a:rPr lang="en-US"/>
              <a:t>Manche Quellen können nur den nächsten Wert liefern (z.B. Streams) </a:t>
            </a:r>
          </a:p>
          <a:p>
            <a:pPr lvl="1">
              <a:lnSpc>
                <a:spcPct val="90000"/>
              </a:lnSpc>
            </a:pPr>
            <a:r>
              <a:rPr lang="en-US"/>
              <a:t>Sprünge oder Reset ggf. Möglich </a:t>
            </a:r>
          </a:p>
          <a:p>
            <a:pPr>
              <a:lnSpc>
                <a:spcPct val="90000"/>
              </a:lnSpc>
            </a:pPr>
            <a:r>
              <a:rPr lang="en-US"/>
              <a:t>IIndexed: getItem(int i) mit int.minValue </a:t>
            </a:r>
          </a:p>
          <a:p>
            <a:pPr lvl="1">
              <a:lnSpc>
                <a:spcPct val="90000"/>
              </a:lnSpc>
            </a:pPr>
            <a:r>
              <a:rPr lang="en-US"/>
              <a:t>Oder mit zweitem Return-Value: TryGetAt() </a:t>
            </a:r>
          </a:p>
          <a:p>
            <a:pPr lvl="1">
              <a:lnSpc>
                <a:spcPct val="90000"/>
              </a:lnSpc>
            </a:pPr>
            <a:r>
              <a:rPr lang="en-US"/>
              <a:t>Erlauben Random Access </a:t>
            </a:r>
            <a:r>
              <a:rPr lang="en-US">
                <a:sym typeface="Wingdings" pitchFamily="2" charset="2"/>
              </a:rPr>
              <a:t> Stress am Server! </a:t>
            </a:r>
          </a:p>
          <a:p>
            <a:pPr lvl="1">
              <a:lnSpc>
                <a:spcPct val="90000"/>
              </a:lnSpc>
            </a:pPr>
            <a:r>
              <a:rPr lang="en-US"/>
              <a:t>wesentlich effizienter wenn berechenbar! </a:t>
            </a:r>
            <a:endParaRPr lang="de-DE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Tensor / Polynom Alternativen</a:t>
            </a:r>
            <a:endParaRPr lang="de-DE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3260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/>
              <a:t>ATensor&lt;T, I, Q&gt; with strong Type T, Item Type I and Accessor Type Q = AQuantity </a:t>
            </a:r>
          </a:p>
          <a:p>
            <a:pPr>
              <a:buFont typeface="Wingdings" pitchFamily="2" charset="2"/>
              <a:buChar char="ç"/>
            </a:pPr>
            <a:r>
              <a:rPr lang="en-US" sz="2800"/>
              <a:t>AVectorInt&lt;T, int&gt; </a:t>
            </a:r>
            <a:r>
              <a:rPr lang="en-US" sz="2800">
                <a:sym typeface="Wingdings" pitchFamily="2" charset="2"/>
              </a:rPr>
              <a:t></a:t>
            </a:r>
            <a:r>
              <a:rPr lang="en-US" sz="2800"/>
              <a:t> PolynomInt </a:t>
            </a:r>
            <a:r>
              <a:rPr lang="en-US" sz="2800">
                <a:sym typeface="Wingdings" pitchFamily="2" charset="2"/>
              </a:rPr>
              <a:t> LongInt</a:t>
            </a:r>
            <a:endParaRPr lang="en-US" sz="2800"/>
          </a:p>
          <a:p>
            <a:pPr>
              <a:buFont typeface="Wingdings" pitchFamily="2" charset="2"/>
              <a:buChar char="ç"/>
            </a:pPr>
            <a:r>
              <a:rPr lang="en-US" sz="2800"/>
              <a:t>AVectorDbl&lt;T, double&gt; </a:t>
            </a:r>
          </a:p>
          <a:p>
            <a:pPr lvl="1">
              <a:buFont typeface="Wingdings" pitchFamily="2" charset="2"/>
              <a:buChar char="ç"/>
            </a:pPr>
            <a:r>
              <a:rPr lang="en-US" sz="2400">
                <a:sym typeface="Wingdings" pitchFamily="2" charset="2"/>
              </a:rPr>
              <a:t>VectorDbl</a:t>
            </a:r>
            <a:endParaRPr lang="en-US" sz="2400"/>
          </a:p>
          <a:p>
            <a:pPr lvl="1">
              <a:buFont typeface="Wingdings" pitchFamily="2" charset="2"/>
              <a:buChar char="ç"/>
            </a:pPr>
            <a:r>
              <a:rPr lang="en-US" sz="2400"/>
              <a:t>APolynomDbl&lt;T, M&gt;  with Module Type M</a:t>
            </a:r>
            <a:endParaRPr lang="en-US" sz="2400">
              <a:sym typeface="Wingdings" pitchFamily="2" charset="2"/>
            </a:endParaRPr>
          </a:p>
          <a:p>
            <a:pPr lvl="2">
              <a:buFont typeface="Wingdings" pitchFamily="2" charset="2"/>
              <a:buChar char="ç"/>
            </a:pPr>
            <a:r>
              <a:rPr lang="en-US" sz="2000"/>
              <a:t>PolynomDbl&lt;M&gt; for type-safe Polynoms </a:t>
            </a:r>
          </a:p>
          <a:p>
            <a:pPr lvl="2">
              <a:buFont typeface="Wingdings" pitchFamily="2" charset="2"/>
              <a:buChar char="ç"/>
            </a:pPr>
            <a:r>
              <a:rPr lang="en-US" sz="2000"/>
              <a:t>PolynomDbl for double Numbers in gAdic Representation</a:t>
            </a:r>
          </a:p>
          <a:p>
            <a:pPr>
              <a:buFont typeface="Wingdings" pitchFamily="2" charset="2"/>
              <a:buChar char="ç"/>
            </a:pPr>
            <a:r>
              <a:rPr lang="en-US" sz="2800"/>
              <a:t>ATensor&lt;T, AQuantity&gt; </a:t>
            </a:r>
            <a:r>
              <a:rPr lang="en-US" sz="2800">
                <a:sym typeface="Wingdings" pitchFamily="2" charset="2"/>
              </a:rPr>
              <a:t> Tensor</a:t>
            </a:r>
            <a:endParaRPr lang="en-US" sz="2800"/>
          </a:p>
          <a:p>
            <a:pPr lvl="1">
              <a:buFont typeface="Wingdings" pitchFamily="2" charset="2"/>
              <a:buChar char="ç"/>
            </a:pPr>
            <a:r>
              <a:rPr lang="en-US" sz="2400"/>
              <a:t>APolynom&lt;T, M&gt; with Module Type M</a:t>
            </a:r>
          </a:p>
          <a:p>
            <a:pPr lvl="2">
              <a:buFont typeface="Wingdings" pitchFamily="2" charset="2"/>
              <a:buChar char="ç"/>
            </a:pPr>
            <a:r>
              <a:rPr lang="en-US" sz="2000"/>
              <a:t>Polynom&lt;M&gt; for type-safe Polynoms </a:t>
            </a:r>
          </a:p>
          <a:p>
            <a:pPr lvl="2">
              <a:buFont typeface="Wingdings" pitchFamily="2" charset="2"/>
              <a:buChar char="ç"/>
            </a:pPr>
            <a:r>
              <a:rPr lang="en-US" sz="2000"/>
              <a:t>Polynom for AQuantity Module {int, double also possible}</a:t>
            </a:r>
            <a:endParaRPr lang="de-DE" sz="2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Entwicklung</a:t>
            </a:r>
            <a:endParaRPr lang="de-DE"/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6165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Pascal: Funktionsbibliotheken + Records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2D/3D B/W Grafik (Printer Driver)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600 Dateien, 7 MB Code</a:t>
            </a:r>
          </a:p>
          <a:p>
            <a:pPr>
              <a:lnSpc>
                <a:spcPct val="80000"/>
              </a:lnSpc>
            </a:pPr>
            <a:r>
              <a:rPr lang="en-US" sz="2400"/>
              <a:t>Java: polymorphe Objekte &amp; 2D/3D Grafik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Object als Parameter </a:t>
            </a:r>
            <a:r>
              <a:rPr lang="en-US" sz="2000">
                <a:sym typeface="Wingdings" pitchFamily="2" charset="2"/>
              </a:rPr>
              <a:t> int, double, IRing1</a:t>
            </a: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000"/>
              <a:t>Ausdrücke explizit aufbaubar </a:t>
            </a:r>
            <a:r>
              <a:rPr lang="en-US" sz="2000">
                <a:sym typeface="Wingdings" pitchFamily="2" charset="2"/>
              </a:rPr>
              <a:t> ableitbar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eigene 2D &amp; 3D Grafik aus PunktXY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1450 Klassen, 11.2 MB Code</a:t>
            </a:r>
          </a:p>
          <a:p>
            <a:pPr>
              <a:lnSpc>
                <a:spcPct val="80000"/>
              </a:lnSpc>
            </a:pPr>
            <a:r>
              <a:rPr lang="en-US" sz="2400"/>
              <a:t>C#1.0: symbolisches Rechnen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Konkrete Klassen </a:t>
            </a:r>
            <a:r>
              <a:rPr lang="en-US" sz="2000">
                <a:sym typeface="Wingdings" pitchFamily="2" charset="2"/>
              </a:rPr>
              <a:t> </a:t>
            </a:r>
            <a:r>
              <a:rPr lang="en-US" sz="2000"/>
              <a:t>Operator Overload </a:t>
            </a:r>
            <a:r>
              <a:rPr lang="en-US" sz="2000">
                <a:sym typeface="Wingdings" pitchFamily="2" charset="2"/>
              </a:rPr>
              <a:t> lesbarer </a:t>
            </a: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000"/>
              <a:t>Immutable </a:t>
            </a:r>
            <a:r>
              <a:rPr lang="en-US" sz="2000">
                <a:sym typeface="Wingdings" pitchFamily="2" charset="2"/>
              </a:rPr>
              <a:t> teurer, weniger Seiteneffekte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820 Klassen, 12.3 MB Code</a:t>
            </a:r>
          </a:p>
          <a:p>
            <a:pPr>
              <a:lnSpc>
                <a:spcPct val="80000"/>
              </a:lnSpc>
            </a:pPr>
            <a:r>
              <a:rPr lang="en-US" sz="2400"/>
              <a:t>C#2.0: Generics für Einheiten </a:t>
            </a:r>
            <a:r>
              <a:rPr lang="en-US" sz="2400">
                <a:sym typeface="Wingdings" pitchFamily="2" charset="2"/>
              </a:rPr>
              <a:t> typsicher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AQuantity (+double) als Parameter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Implizite Einheiten-Konverter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Typed Units + generic Sums </a:t>
            </a:r>
            <a:r>
              <a:rPr lang="en-US" sz="2000">
                <a:sym typeface="Wingdings" pitchFamily="2" charset="2"/>
              </a:rPr>
              <a:t> sparse </a:t>
            </a:r>
          </a:p>
          <a:p>
            <a:pPr lvl="1">
              <a:lnSpc>
                <a:spcPct val="80000"/>
              </a:lnSpc>
            </a:pPr>
            <a:r>
              <a:rPr lang="en-US" sz="2000">
                <a:sym typeface="Wingdings" pitchFamily="2" charset="2"/>
              </a:rPr>
              <a:t>700 Klassen, 7 MB Code</a:t>
            </a:r>
            <a:endParaRPr lang="de-DE" sz="200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Mul 		vs. 		Map </a:t>
            </a:r>
            <a:endParaRPr lang="de-DE"/>
          </a:p>
        </p:txBody>
      </p:sp>
      <p:sp>
        <p:nvSpPr>
          <p:cNvPr id="6656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sz="2800"/>
              <a:t>Polynome: x*x = x² </a:t>
            </a:r>
          </a:p>
          <a:p>
            <a:r>
              <a:rPr lang="en-US" sz="2800"/>
              <a:t>Einheiten-Produkt: </a:t>
            </a:r>
          </a:p>
          <a:p>
            <a:pPr lvl="1"/>
            <a:r>
              <a:rPr lang="en-US" sz="2400"/>
              <a:t>kg*m/s² </a:t>
            </a:r>
            <a:endParaRPr lang="de-DE" sz="2400"/>
          </a:p>
        </p:txBody>
      </p:sp>
      <p:sp>
        <p:nvSpPr>
          <p:cNvPr id="66563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8200" y="1600200"/>
            <a:ext cx="4244975" cy="4525963"/>
          </a:xfrm>
        </p:spPr>
        <p:txBody>
          <a:bodyPr/>
          <a:lstStyle/>
          <a:p>
            <a:r>
              <a:rPr lang="en-US" sz="2800"/>
              <a:t>Skalar: x°x =1=Identity</a:t>
            </a:r>
          </a:p>
          <a:p>
            <a:r>
              <a:rPr lang="en-US" sz="2800"/>
              <a:t>Variablen-Ersetzung: </a:t>
            </a:r>
          </a:p>
          <a:p>
            <a:pPr lvl="1"/>
            <a:endParaRPr lang="de-DE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Variablen &amp; Scalar Product</a:t>
            </a:r>
            <a:endParaRPr lang="de-DE"/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42350" cy="5183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Einsetzen von Variablen und Skalar Produkt haben gleiche Eigenschaften: map()</a:t>
            </a:r>
          </a:p>
          <a:p>
            <a:pPr lvl="1">
              <a:lnSpc>
                <a:spcPct val="90000"/>
              </a:lnSpc>
            </a:pPr>
            <a:r>
              <a:rPr lang="en-US"/>
              <a:t>Distributiv &amp; Assoziativ </a:t>
            </a:r>
          </a:p>
          <a:p>
            <a:pPr>
              <a:lnSpc>
                <a:spcPct val="90000"/>
              </a:lnSpc>
            </a:pPr>
            <a:r>
              <a:rPr lang="en-US"/>
              <a:t>Mit einzelnen Variablen ergibt sich die Einsetzung </a:t>
            </a:r>
          </a:p>
          <a:p>
            <a:pPr lvl="1">
              <a:lnSpc>
                <a:spcPct val="90000"/>
              </a:lnSpc>
            </a:pPr>
            <a:r>
              <a:rPr lang="en-US"/>
              <a:t>Variablen werden einzeln ersetzt</a:t>
            </a:r>
          </a:p>
          <a:p>
            <a:pPr>
              <a:lnSpc>
                <a:spcPct val="90000"/>
              </a:lnSpc>
            </a:pPr>
            <a:r>
              <a:rPr lang="en-US"/>
              <a:t>Mit einer Summe / Vektor das Skalar-Produkt </a:t>
            </a:r>
          </a:p>
          <a:p>
            <a:pPr lvl="1">
              <a:lnSpc>
                <a:spcPct val="90000"/>
              </a:lnSpc>
            </a:pPr>
            <a:r>
              <a:rPr lang="en-US"/>
              <a:t>Der einzige Unterschied besteht darin, ob in der Faktor-Summe fehlende Einheiten zu 0 führen oder im Ausdruck verbleiben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Skalar-Produkt</a:t>
            </a:r>
            <a:endParaRPr lang="de-DE"/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(a+b)°c = a°c + b°c = c°(a+b) = c°(b+a) </a:t>
            </a:r>
          </a:p>
          <a:p>
            <a:r>
              <a:rPr lang="en-US"/>
              <a:t>Kommutativ,  Distributiv </a:t>
            </a:r>
          </a:p>
          <a:p>
            <a:r>
              <a:rPr lang="en-US"/>
              <a:t>a°b = 0 </a:t>
            </a:r>
            <a:r>
              <a:rPr lang="en-US">
                <a:sym typeface="Wingdings" pitchFamily="2" charset="2"/>
              </a:rPr>
              <a:t> a=0 or b=0 or a T b</a:t>
            </a:r>
          </a:p>
          <a:p>
            <a:pPr lvl="1"/>
            <a:r>
              <a:rPr lang="en-US"/>
              <a:t>a T b </a:t>
            </a:r>
            <a:r>
              <a:rPr lang="en-US">
                <a:sym typeface="Wingdings" pitchFamily="2" charset="2"/>
              </a:rPr>
              <a:t> </a:t>
            </a:r>
            <a:r>
              <a:rPr lang="en-US"/>
              <a:t>Unit(a) ° Unit(b) == NoUnit </a:t>
            </a:r>
          </a:p>
          <a:p>
            <a:pPr lvl="1"/>
            <a:r>
              <a:rPr lang="en-US"/>
              <a:t>Unit </a:t>
            </a:r>
            <a:r>
              <a:rPr lang="en-US">
                <a:sym typeface="Wingdings" pitchFamily="2" charset="2"/>
              </a:rPr>
              <a:t> Variable?</a:t>
            </a:r>
            <a:endParaRPr lang="de-DE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Variablen-Ersetzung: </a:t>
            </a:r>
            <a:endParaRPr lang="de-DE"/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(a+b)°c = a°c + b°c = c°(a+b) = c°(b+a) </a:t>
            </a:r>
          </a:p>
          <a:p>
            <a:r>
              <a:rPr lang="en-US"/>
              <a:t>Kommutativ,  Distributiv </a:t>
            </a:r>
          </a:p>
          <a:p>
            <a:r>
              <a:rPr lang="en-US"/>
              <a:t>Superlinear: a°b = b, a°a°b = a²b</a:t>
            </a:r>
          </a:p>
          <a:p>
            <a:r>
              <a:rPr lang="en-US"/>
              <a:t>Leider können bei nichtlinearen Termen nicht alle Variable en block ersetzt werden</a:t>
            </a:r>
          </a:p>
          <a:p>
            <a:pPr lvl="1"/>
            <a:r>
              <a:rPr lang="en-US"/>
              <a:t>Zusammengesetzte Variable: 4*&lt;x*y&gt;</a:t>
            </a:r>
          </a:p>
          <a:p>
            <a:pPr lvl="1"/>
            <a:r>
              <a:rPr lang="en-US"/>
              <a:t>Ersetzung durch einen Term: (a+b)*&lt;y&gt;</a:t>
            </a:r>
          </a:p>
          <a:p>
            <a:pPr lvl="1"/>
            <a:r>
              <a:rPr lang="en-US"/>
              <a:t>ReplaceBy trennt Ausdruck und Einheit	</a:t>
            </a:r>
            <a:endParaRPr lang="de-DE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Expression Representation</a:t>
            </a:r>
            <a:endParaRPr lang="de-DE"/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71588"/>
            <a:ext cx="8496300" cy="5181600"/>
          </a:xfrm>
        </p:spPr>
        <p:txBody>
          <a:bodyPr/>
          <a:lstStyle/>
          <a:p>
            <a:r>
              <a:rPr lang="en-US"/>
              <a:t>+ and * as binary Nodes without Values </a:t>
            </a:r>
          </a:p>
          <a:p>
            <a:r>
              <a:rPr lang="en-US"/>
              <a:t>+ as binary sorted Tree Node with Value </a:t>
            </a:r>
          </a:p>
          <a:p>
            <a:pPr lvl="1"/>
            <a:r>
              <a:rPr lang="en-US"/>
              <a:t>Same Class for inner and Leaf Nodes </a:t>
            </a:r>
          </a:p>
          <a:p>
            <a:pPr lvl="1"/>
            <a:r>
              <a:rPr lang="en-US"/>
              <a:t>‘Empty’ as special Value for Leaf Nodes </a:t>
            </a:r>
          </a:p>
          <a:p>
            <a:pPr lvl="1"/>
            <a:r>
              <a:rPr lang="en-US"/>
              <a:t>Sorted Tree Implementation reusable </a:t>
            </a:r>
          </a:p>
          <a:p>
            <a:r>
              <a:rPr lang="en-US"/>
              <a:t>‘*’ implemented type-safe </a:t>
            </a:r>
          </a:p>
          <a:p>
            <a:r>
              <a:rPr lang="en-US"/>
              <a:t>Chained Functions </a:t>
            </a:r>
          </a:p>
          <a:p>
            <a:pPr lvl="1"/>
            <a:r>
              <a:rPr lang="en-US"/>
              <a:t>Binary Map Class to nest 2 (static) Functions </a:t>
            </a:r>
          </a:p>
          <a:p>
            <a:pPr lvl="1"/>
            <a:r>
              <a:rPr lang="en-US"/>
              <a:t>Every Function is a Nested Expression Member </a:t>
            </a:r>
            <a:endParaRPr lang="de-DE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Expression Representation</a:t>
            </a:r>
            <a:endParaRPr lang="de-DE"/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27125"/>
            <a:ext cx="8785225" cy="54705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OO Methods are easier to use than Functions </a:t>
            </a:r>
          </a:p>
          <a:p>
            <a:pPr>
              <a:lnSpc>
                <a:spcPct val="80000"/>
              </a:lnSpc>
            </a:pPr>
            <a:r>
              <a:rPr lang="en-US" sz="2400">
                <a:sym typeface="Wingdings" pitchFamily="2" charset="2"/>
              </a:rPr>
              <a:t>better use typed Nodes instead of static Connectors </a:t>
            </a: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000"/>
              <a:t>One Argument is often clear </a:t>
            </a:r>
            <a:r>
              <a:rPr lang="en-US" sz="2000">
                <a:sym typeface="Wingdings" pitchFamily="2" charset="2"/>
              </a:rPr>
              <a:t> Context Help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Subject.Predicate(Object(s)) Paradigm resp. </a:t>
            </a:r>
            <a:r>
              <a:rPr lang="en-US" sz="2000" b="1"/>
              <a:t>Infix- </a:t>
            </a:r>
            <a:r>
              <a:rPr lang="en-US" sz="2000"/>
              <a:t>Notation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Better than Prefix: new Diff(Arg0, new Sum(Arg1, Arg2))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Needs less ‘Glue’ because </a:t>
            </a:r>
            <a:r>
              <a:rPr lang="en-US" sz="2000" b="1"/>
              <a:t>Gluing is built in</a:t>
            </a:r>
            <a:r>
              <a:rPr lang="en-US" sz="2000"/>
              <a:t>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References to other Classes; good for semi-permanent Structures, not good so for transient Instances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Some Functions are polymorph Members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To exploit Hardware Acceleration (CoProcessor etc.) </a:t>
            </a:r>
          </a:p>
          <a:p>
            <a:pPr lvl="2">
              <a:lnSpc>
                <a:spcPct val="80000"/>
              </a:lnSpc>
            </a:pPr>
            <a:r>
              <a:rPr lang="en-US" sz="1800" b="1">
                <a:solidFill>
                  <a:srgbClr val="FF0000"/>
                </a:solidFill>
              </a:rPr>
              <a:t>ALWAYS call existing polymorph Members!</a:t>
            </a:r>
            <a:r>
              <a:rPr lang="en-US" sz="1800" b="1"/>
              <a:t> </a:t>
            </a:r>
          </a:p>
          <a:p>
            <a:pPr lvl="3">
              <a:lnSpc>
                <a:spcPct val="80000"/>
              </a:lnSpc>
            </a:pPr>
            <a:r>
              <a:rPr lang="en-US" sz="1600"/>
              <a:t>These may delegate to static Members (for reuse across Classes) or even build extensive Return Structures (for lazy Evaluation)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Make Functions Members ONLY when </a:t>
            </a:r>
            <a:r>
              <a:rPr lang="en-US" sz="1800" b="1">
                <a:solidFill>
                  <a:srgbClr val="FF0000"/>
                </a:solidFill>
              </a:rPr>
              <a:t>polymorph or frequent </a:t>
            </a:r>
          </a:p>
          <a:p>
            <a:pPr lvl="3">
              <a:lnSpc>
                <a:spcPct val="80000"/>
              </a:lnSpc>
            </a:pPr>
            <a:r>
              <a:rPr lang="en-US" sz="1600"/>
              <a:t>Avoid too many Methods!(makes Inheritance/Implementation harder)</a:t>
            </a:r>
          </a:p>
          <a:p>
            <a:pPr lvl="3">
              <a:lnSpc>
                <a:spcPct val="80000"/>
              </a:lnSpc>
            </a:pPr>
            <a:r>
              <a:rPr lang="en-US" sz="1600"/>
              <a:t>Usability is better though, even with huge Numbers of Methods!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All Unary Functions are Classes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Keep Reference to nested Expression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Power Series Representation applicable to AQuantity </a:t>
            </a:r>
          </a:p>
          <a:p>
            <a:pPr lvl="1">
              <a:lnSpc>
                <a:spcPct val="80000"/>
              </a:lnSpc>
            </a:pPr>
            <a:endParaRPr lang="de-DE" sz="2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Oval 26"/>
          <p:cNvSpPr>
            <a:spLocks noChangeArrowheads="1"/>
          </p:cNvSpPr>
          <p:nvPr/>
        </p:nvSpPr>
        <p:spPr bwMode="auto">
          <a:xfrm>
            <a:off x="971550" y="5013325"/>
            <a:ext cx="1296988" cy="503238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lg" len="lg"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7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2707" name="Oval 5"/>
          <p:cNvSpPr>
            <a:spLocks noChangeArrowheads="1"/>
          </p:cNvSpPr>
          <p:nvPr/>
        </p:nvSpPr>
        <p:spPr bwMode="auto">
          <a:xfrm>
            <a:off x="1093788" y="2182813"/>
            <a:ext cx="238125" cy="238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</a:t>
            </a:r>
            <a:endParaRPr lang="de-DE"/>
          </a:p>
        </p:txBody>
      </p:sp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611188" y="263683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</a:t>
            </a:r>
            <a:endParaRPr lang="de-DE"/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1403350" y="263683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</a:t>
            </a:r>
            <a:endParaRPr lang="de-DE"/>
          </a:p>
        </p:txBody>
      </p:sp>
      <p:cxnSp>
        <p:nvCxnSpPr>
          <p:cNvPr id="72710" name="AutoShape 8"/>
          <p:cNvCxnSpPr>
            <a:cxnSpLocks noChangeShapeType="1"/>
            <a:stCxn id="72707" idx="3"/>
            <a:endCxn id="72708" idx="0"/>
          </p:cNvCxnSpPr>
          <p:nvPr/>
        </p:nvCxnSpPr>
        <p:spPr bwMode="auto">
          <a:xfrm flipH="1">
            <a:off x="801688" y="2386013"/>
            <a:ext cx="327025" cy="250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11" name="AutoShape 9"/>
          <p:cNvCxnSpPr>
            <a:cxnSpLocks noChangeShapeType="1"/>
            <a:stCxn id="72707" idx="5"/>
            <a:endCxn id="72709" idx="0"/>
          </p:cNvCxnSpPr>
          <p:nvPr/>
        </p:nvCxnSpPr>
        <p:spPr bwMode="auto">
          <a:xfrm>
            <a:off x="1296988" y="2386013"/>
            <a:ext cx="296862" cy="250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12" name="Oval 10"/>
          <p:cNvSpPr>
            <a:spLocks noChangeArrowheads="1"/>
          </p:cNvSpPr>
          <p:nvPr/>
        </p:nvSpPr>
        <p:spPr bwMode="auto">
          <a:xfrm>
            <a:off x="1022350" y="3602038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A+</a:t>
            </a:r>
            <a:endParaRPr lang="de-DE"/>
          </a:p>
        </p:txBody>
      </p:sp>
      <p:sp>
        <p:nvSpPr>
          <p:cNvPr id="72713" name="Rectangle 12"/>
          <p:cNvSpPr>
            <a:spLocks noChangeArrowheads="1"/>
          </p:cNvSpPr>
          <p:nvPr/>
        </p:nvSpPr>
        <p:spPr bwMode="auto">
          <a:xfrm>
            <a:off x="1403350" y="41275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</a:t>
            </a:r>
            <a:endParaRPr lang="de-DE"/>
          </a:p>
        </p:txBody>
      </p:sp>
      <p:cxnSp>
        <p:nvCxnSpPr>
          <p:cNvPr id="72714" name="AutoShape 13"/>
          <p:cNvCxnSpPr>
            <a:cxnSpLocks noChangeShapeType="1"/>
            <a:stCxn id="72712" idx="3"/>
          </p:cNvCxnSpPr>
          <p:nvPr/>
        </p:nvCxnSpPr>
        <p:spPr bwMode="auto">
          <a:xfrm flipH="1">
            <a:off x="801688" y="3927475"/>
            <a:ext cx="276225" cy="200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15" name="AutoShape 14"/>
          <p:cNvCxnSpPr>
            <a:cxnSpLocks noChangeShapeType="1"/>
            <a:stCxn id="72712" idx="5"/>
            <a:endCxn id="72713" idx="0"/>
          </p:cNvCxnSpPr>
          <p:nvPr/>
        </p:nvCxnSpPr>
        <p:spPr bwMode="auto">
          <a:xfrm>
            <a:off x="1347788" y="3927475"/>
            <a:ext cx="246062" cy="200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16" name="Oval 20"/>
          <p:cNvSpPr>
            <a:spLocks noChangeArrowheads="1"/>
          </p:cNvSpPr>
          <p:nvPr/>
        </p:nvSpPr>
        <p:spPr bwMode="auto">
          <a:xfrm>
            <a:off x="1093788" y="5157788"/>
            <a:ext cx="238125" cy="238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</a:t>
            </a:r>
            <a:endParaRPr lang="de-DE"/>
          </a:p>
        </p:txBody>
      </p:sp>
      <p:sp>
        <p:nvSpPr>
          <p:cNvPr id="72717" name="Rectangle 21"/>
          <p:cNvSpPr>
            <a:spLocks noChangeArrowheads="1"/>
          </p:cNvSpPr>
          <p:nvPr/>
        </p:nvSpPr>
        <p:spPr bwMode="auto">
          <a:xfrm>
            <a:off x="1619250" y="50847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</a:t>
            </a:r>
            <a:endParaRPr lang="de-DE"/>
          </a:p>
        </p:txBody>
      </p:sp>
      <p:sp>
        <p:nvSpPr>
          <p:cNvPr id="72718" name="Rectangle 22"/>
          <p:cNvSpPr>
            <a:spLocks noChangeArrowheads="1"/>
          </p:cNvSpPr>
          <p:nvPr/>
        </p:nvSpPr>
        <p:spPr bwMode="auto">
          <a:xfrm>
            <a:off x="1403350" y="561181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</a:t>
            </a:r>
            <a:endParaRPr lang="de-DE"/>
          </a:p>
        </p:txBody>
      </p:sp>
      <p:cxnSp>
        <p:nvCxnSpPr>
          <p:cNvPr id="72719" name="AutoShape 23"/>
          <p:cNvCxnSpPr>
            <a:cxnSpLocks noChangeShapeType="1"/>
            <a:stCxn id="72716" idx="6"/>
            <a:endCxn id="72717" idx="1"/>
          </p:cNvCxnSpPr>
          <p:nvPr/>
        </p:nvCxnSpPr>
        <p:spPr bwMode="auto">
          <a:xfrm flipV="1">
            <a:off x="1331913" y="5275263"/>
            <a:ext cx="287337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20" name="AutoShape 24"/>
          <p:cNvCxnSpPr>
            <a:cxnSpLocks noChangeShapeType="1"/>
            <a:stCxn id="72716" idx="5"/>
            <a:endCxn id="72718" idx="0"/>
          </p:cNvCxnSpPr>
          <p:nvPr/>
        </p:nvCxnSpPr>
        <p:spPr bwMode="auto">
          <a:xfrm>
            <a:off x="1296988" y="5360988"/>
            <a:ext cx="296862" cy="250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21" name="AutoShape 25"/>
          <p:cNvCxnSpPr>
            <a:cxnSpLocks noChangeShapeType="1"/>
            <a:stCxn id="72716" idx="3"/>
          </p:cNvCxnSpPr>
          <p:nvPr/>
        </p:nvCxnSpPr>
        <p:spPr bwMode="auto">
          <a:xfrm flipH="1">
            <a:off x="827088" y="5360988"/>
            <a:ext cx="301625" cy="212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22" name="Line 27"/>
          <p:cNvSpPr>
            <a:spLocks noChangeShapeType="1"/>
          </p:cNvSpPr>
          <p:nvPr/>
        </p:nvSpPr>
        <p:spPr bwMode="auto">
          <a:xfrm>
            <a:off x="1187450" y="306863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72723" name="Text Box 28"/>
          <p:cNvSpPr txBox="1">
            <a:spLocks noChangeArrowheads="1"/>
          </p:cNvSpPr>
          <p:nvPr/>
        </p:nvSpPr>
        <p:spPr bwMode="auto">
          <a:xfrm rot="5400000">
            <a:off x="1023144" y="4529932"/>
            <a:ext cx="450850" cy="366712"/>
          </a:xfrm>
          <a:prstGeom prst="rect">
            <a:avLst/>
          </a:prstGeom>
          <a:noFill/>
          <a:ln w="25400">
            <a:noFill/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==</a:t>
            </a:r>
            <a:endParaRPr lang="de-DE"/>
          </a:p>
        </p:txBody>
      </p:sp>
      <p:sp>
        <p:nvSpPr>
          <p:cNvPr id="72724" name="Oval 29"/>
          <p:cNvSpPr>
            <a:spLocks noChangeArrowheads="1"/>
          </p:cNvSpPr>
          <p:nvPr/>
        </p:nvSpPr>
        <p:spPr bwMode="auto">
          <a:xfrm>
            <a:off x="2965450" y="5013325"/>
            <a:ext cx="1296988" cy="576263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lg" len="lg"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725" name="Oval 30"/>
          <p:cNvSpPr>
            <a:spLocks noChangeArrowheads="1"/>
          </p:cNvSpPr>
          <p:nvPr/>
        </p:nvSpPr>
        <p:spPr bwMode="auto">
          <a:xfrm>
            <a:off x="3686175" y="2205038"/>
            <a:ext cx="238125" cy="238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°</a:t>
            </a:r>
            <a:endParaRPr lang="de-DE"/>
          </a:p>
        </p:txBody>
      </p:sp>
      <p:sp>
        <p:nvSpPr>
          <p:cNvPr id="72726" name="Rectangle 31"/>
          <p:cNvSpPr>
            <a:spLocks noChangeArrowheads="1"/>
          </p:cNvSpPr>
          <p:nvPr/>
        </p:nvSpPr>
        <p:spPr bwMode="auto">
          <a:xfrm>
            <a:off x="3203575" y="26590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sin</a:t>
            </a:r>
            <a:endParaRPr lang="de-DE"/>
          </a:p>
        </p:txBody>
      </p:sp>
      <p:sp>
        <p:nvSpPr>
          <p:cNvPr id="72727" name="Rectangle 32"/>
          <p:cNvSpPr>
            <a:spLocks noChangeArrowheads="1"/>
          </p:cNvSpPr>
          <p:nvPr/>
        </p:nvSpPr>
        <p:spPr bwMode="auto">
          <a:xfrm>
            <a:off x="3995738" y="26590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3*x</a:t>
            </a:r>
            <a:endParaRPr lang="de-DE"/>
          </a:p>
        </p:txBody>
      </p:sp>
      <p:cxnSp>
        <p:nvCxnSpPr>
          <p:cNvPr id="72728" name="AutoShape 33"/>
          <p:cNvCxnSpPr>
            <a:cxnSpLocks noChangeShapeType="1"/>
            <a:stCxn id="72725" idx="3"/>
            <a:endCxn id="72726" idx="0"/>
          </p:cNvCxnSpPr>
          <p:nvPr/>
        </p:nvCxnSpPr>
        <p:spPr bwMode="auto">
          <a:xfrm flipH="1">
            <a:off x="3394075" y="2408238"/>
            <a:ext cx="327025" cy="250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29" name="AutoShape 34"/>
          <p:cNvCxnSpPr>
            <a:cxnSpLocks noChangeShapeType="1"/>
            <a:stCxn id="72725" idx="5"/>
            <a:endCxn id="72727" idx="0"/>
          </p:cNvCxnSpPr>
          <p:nvPr/>
        </p:nvCxnSpPr>
        <p:spPr bwMode="auto">
          <a:xfrm>
            <a:off x="3889375" y="2408238"/>
            <a:ext cx="296863" cy="250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30" name="Oval 35"/>
          <p:cNvSpPr>
            <a:spLocks noChangeArrowheads="1"/>
          </p:cNvSpPr>
          <p:nvPr/>
        </p:nvSpPr>
        <p:spPr bwMode="auto">
          <a:xfrm>
            <a:off x="3543300" y="3624263"/>
            <a:ext cx="523875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sin°</a:t>
            </a:r>
            <a:endParaRPr lang="de-DE"/>
          </a:p>
        </p:txBody>
      </p:sp>
      <p:sp>
        <p:nvSpPr>
          <p:cNvPr id="72731" name="Rectangle 36"/>
          <p:cNvSpPr>
            <a:spLocks noChangeArrowheads="1"/>
          </p:cNvSpPr>
          <p:nvPr/>
        </p:nvSpPr>
        <p:spPr bwMode="auto">
          <a:xfrm>
            <a:off x="3995738" y="4149725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3*x</a:t>
            </a:r>
            <a:endParaRPr lang="de-DE"/>
          </a:p>
        </p:txBody>
      </p:sp>
      <p:cxnSp>
        <p:nvCxnSpPr>
          <p:cNvPr id="72732" name="AutoShape 38"/>
          <p:cNvCxnSpPr>
            <a:cxnSpLocks noChangeShapeType="1"/>
            <a:stCxn id="72730" idx="5"/>
            <a:endCxn id="72731" idx="0"/>
          </p:cNvCxnSpPr>
          <p:nvPr/>
        </p:nvCxnSpPr>
        <p:spPr bwMode="auto">
          <a:xfrm>
            <a:off x="3990975" y="3949700"/>
            <a:ext cx="195263" cy="200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33" name="Oval 39"/>
          <p:cNvSpPr>
            <a:spLocks noChangeArrowheads="1"/>
          </p:cNvSpPr>
          <p:nvPr/>
        </p:nvSpPr>
        <p:spPr bwMode="auto">
          <a:xfrm>
            <a:off x="3881438" y="5207000"/>
            <a:ext cx="238125" cy="238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°</a:t>
            </a:r>
            <a:endParaRPr lang="de-DE"/>
          </a:p>
        </p:txBody>
      </p:sp>
      <p:sp>
        <p:nvSpPr>
          <p:cNvPr id="72734" name="Rectangle 40"/>
          <p:cNvSpPr>
            <a:spLocks noChangeArrowheads="1"/>
          </p:cNvSpPr>
          <p:nvPr/>
        </p:nvSpPr>
        <p:spPr bwMode="auto">
          <a:xfrm>
            <a:off x="3306763" y="51355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sin</a:t>
            </a:r>
            <a:endParaRPr lang="de-DE"/>
          </a:p>
        </p:txBody>
      </p:sp>
      <p:sp>
        <p:nvSpPr>
          <p:cNvPr id="72735" name="Rectangle 41"/>
          <p:cNvSpPr>
            <a:spLocks noChangeArrowheads="1"/>
          </p:cNvSpPr>
          <p:nvPr/>
        </p:nvSpPr>
        <p:spPr bwMode="auto">
          <a:xfrm>
            <a:off x="4551363" y="51355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3*x</a:t>
            </a:r>
            <a:endParaRPr lang="de-DE"/>
          </a:p>
        </p:txBody>
      </p:sp>
      <p:cxnSp>
        <p:nvCxnSpPr>
          <p:cNvPr id="72736" name="AutoShape 42"/>
          <p:cNvCxnSpPr>
            <a:cxnSpLocks noChangeShapeType="1"/>
            <a:stCxn id="72733" idx="2"/>
            <a:endCxn id="72734" idx="3"/>
          </p:cNvCxnSpPr>
          <p:nvPr/>
        </p:nvCxnSpPr>
        <p:spPr bwMode="auto">
          <a:xfrm flipH="1">
            <a:off x="3687763" y="5326063"/>
            <a:ext cx="19367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72737" name="AutoShape 43"/>
          <p:cNvCxnSpPr>
            <a:cxnSpLocks noChangeShapeType="1"/>
            <a:stCxn id="72733" idx="6"/>
            <a:endCxn id="72735" idx="1"/>
          </p:cNvCxnSpPr>
          <p:nvPr/>
        </p:nvCxnSpPr>
        <p:spPr bwMode="auto">
          <a:xfrm>
            <a:off x="4119563" y="5326063"/>
            <a:ext cx="4318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72738" name="Line 45"/>
          <p:cNvSpPr>
            <a:spLocks noChangeShapeType="1"/>
          </p:cNvSpPr>
          <p:nvPr/>
        </p:nvSpPr>
        <p:spPr bwMode="auto">
          <a:xfrm>
            <a:off x="3779838" y="3090863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72739" name="Text Box 46"/>
          <p:cNvSpPr txBox="1">
            <a:spLocks noChangeArrowheads="1"/>
          </p:cNvSpPr>
          <p:nvPr/>
        </p:nvSpPr>
        <p:spPr bwMode="auto">
          <a:xfrm rot="5400000">
            <a:off x="3615532" y="4552156"/>
            <a:ext cx="450850" cy="366713"/>
          </a:xfrm>
          <a:prstGeom prst="rect">
            <a:avLst/>
          </a:prstGeom>
          <a:noFill/>
          <a:ln w="25400">
            <a:noFill/>
            <a:miter lim="800000"/>
            <a:headEnd type="none" w="lg" len="lg"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/>
              <a:t>==</a:t>
            </a:r>
            <a:endParaRPr lang="de-DE"/>
          </a:p>
        </p:txBody>
      </p:sp>
      <p:sp>
        <p:nvSpPr>
          <p:cNvPr id="72740" name="Text Box 37"/>
          <p:cNvSpPr txBox="1">
            <a:spLocks noChangeArrowheads="1"/>
          </p:cNvSpPr>
          <p:nvPr/>
        </p:nvSpPr>
        <p:spPr bwMode="auto">
          <a:xfrm>
            <a:off x="5775325" y="2439988"/>
            <a:ext cx="31940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Java, more granular, </a:t>
            </a:r>
          </a:p>
          <a:p>
            <a:r>
              <a:rPr lang="en-US"/>
              <a:t>but many Function Singletons</a:t>
            </a:r>
            <a:br>
              <a:rPr lang="en-US"/>
            </a:br>
            <a:r>
              <a:rPr lang="en-US"/>
              <a:t>with Cat Connectors </a:t>
            </a:r>
            <a:endParaRPr lang="de-DE"/>
          </a:p>
        </p:txBody>
      </p:sp>
      <p:sp>
        <p:nvSpPr>
          <p:cNvPr id="72741" name="Text Box 38"/>
          <p:cNvSpPr txBox="1">
            <a:spLocks noChangeArrowheads="1"/>
          </p:cNvSpPr>
          <p:nvPr/>
        </p:nvSpPr>
        <p:spPr bwMode="auto">
          <a:xfrm>
            <a:off x="5776913" y="4430713"/>
            <a:ext cx="32448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.NET, more powerful Objects, </a:t>
            </a:r>
          </a:p>
          <a:p>
            <a:r>
              <a:rPr lang="en-US"/>
              <a:t>Distributed Logic</a:t>
            </a:r>
          </a:p>
          <a:p>
            <a:r>
              <a:rPr lang="en-US"/>
              <a:t>“Emergent” Behavior </a:t>
            </a:r>
            <a:endParaRPr lang="de-DE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Welche atomaren Operatoren?</a:t>
            </a:r>
            <a:endParaRPr lang="de-DE"/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71588"/>
            <a:ext cx="8785225" cy="5181600"/>
          </a:xfrm>
        </p:spPr>
        <p:txBody>
          <a:bodyPr/>
          <a:lstStyle/>
          <a:p>
            <a:r>
              <a:rPr lang="en-US"/>
              <a:t>Sum und (-1)* </a:t>
            </a:r>
          </a:p>
          <a:p>
            <a:r>
              <a:rPr lang="en-US"/>
              <a:t>Prod und Rational </a:t>
            </a:r>
          </a:p>
          <a:p>
            <a:r>
              <a:rPr lang="en-US"/>
              <a:t>AND, OR und NOT </a:t>
            </a:r>
          </a:p>
          <a:p>
            <a:pPr lvl="1"/>
            <a:r>
              <a:rPr lang="en-US"/>
              <a:t>Alternativ: NAND oder NOR: dupliziert Ausdrücke</a:t>
            </a:r>
          </a:p>
          <a:p>
            <a:pPr lvl="2"/>
            <a:r>
              <a:rPr lang="en-US"/>
              <a:t>Aber: Regeln sind nicht einfach und unlesbar </a:t>
            </a:r>
          </a:p>
          <a:p>
            <a:pPr lvl="1"/>
            <a:r>
              <a:rPr lang="en-US"/>
              <a:t>Alternativ: AND und NOT </a:t>
            </a:r>
          </a:p>
          <a:p>
            <a:pPr lvl="2"/>
            <a:r>
              <a:rPr lang="en-US"/>
              <a:t>a | b = !(!a &amp; !b) </a:t>
            </a:r>
          </a:p>
          <a:p>
            <a:pPr lvl="1"/>
            <a:r>
              <a:rPr lang="en-US"/>
              <a:t>Alternativ: Step: dupliziert aber Ausdrücke!</a:t>
            </a:r>
          </a:p>
          <a:p>
            <a:pPr lvl="2"/>
            <a:r>
              <a:rPr lang="en-US"/>
              <a:t>a | b = a + (b-a)*Step(b-a) </a:t>
            </a:r>
          </a:p>
          <a:p>
            <a:pPr lvl="2"/>
            <a:r>
              <a:rPr lang="en-US"/>
              <a:t>a &amp; b = a - (b-a)*Step(b-a) </a:t>
            </a:r>
          </a:p>
          <a:p>
            <a:pPr lvl="2"/>
            <a:endParaRPr lang="de-DE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Vermischen von Zahlen und Booleschen Ausdrücken</a:t>
            </a:r>
            <a:endParaRPr lang="de-DE" sz="4000"/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4924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Einheiten, um Ausdrücke zu kanonisieren </a:t>
            </a:r>
          </a:p>
          <a:p>
            <a:pPr>
              <a:lnSpc>
                <a:spcPct val="90000"/>
              </a:lnSpc>
            </a:pPr>
            <a:r>
              <a:rPr lang="en-US"/>
              <a:t>Auch zum Benennen von Aussage-Variable </a:t>
            </a:r>
          </a:p>
          <a:p>
            <a:pPr lvl="1">
              <a:lnSpc>
                <a:spcPct val="90000"/>
              </a:lnSpc>
            </a:pPr>
            <a:r>
              <a:rPr lang="en-US"/>
              <a:t>Der Zahlenwert ist dabei IMMER ‘1’ </a:t>
            </a:r>
          </a:p>
          <a:p>
            <a:pPr lvl="1">
              <a:lnSpc>
                <a:spcPct val="90000"/>
              </a:lnSpc>
            </a:pPr>
            <a:r>
              <a:rPr lang="en-US"/>
              <a:t>NOT(x) ist nicht weiter aufgelöst </a:t>
            </a:r>
          </a:p>
          <a:p>
            <a:pPr>
              <a:lnSpc>
                <a:spcPct val="90000"/>
              </a:lnSpc>
            </a:pPr>
            <a:r>
              <a:rPr lang="en-US"/>
              <a:t>Möglicher Konflikt bei “x | !x”: </a:t>
            </a:r>
          </a:p>
          <a:p>
            <a:pPr lvl="1">
              <a:lnSpc>
                <a:spcPct val="90000"/>
              </a:lnSpc>
            </a:pPr>
            <a:r>
              <a:rPr lang="en-US"/>
              <a:t>Interpretation als ‘Max’: 1*x resp. x </a:t>
            </a:r>
          </a:p>
          <a:p>
            <a:pPr lvl="1">
              <a:lnSpc>
                <a:spcPct val="90000"/>
              </a:lnSpc>
            </a:pPr>
            <a:r>
              <a:rPr lang="en-US"/>
              <a:t>Interpretation als Aussage: “True” resp. 1</a:t>
            </a:r>
          </a:p>
          <a:p>
            <a:pPr lvl="2">
              <a:lnSpc>
                <a:spcPct val="90000"/>
              </a:lnSpc>
            </a:pPr>
            <a:r>
              <a:rPr lang="en-US"/>
              <a:t>Nur bei Verwendung von NOT </a:t>
            </a:r>
          </a:p>
          <a:p>
            <a:pPr lvl="3">
              <a:lnSpc>
                <a:spcPct val="90000"/>
              </a:lnSpc>
            </a:pPr>
            <a:r>
              <a:rPr lang="en-US"/>
              <a:t>Numerischer Wert von NOT ist abhängig von True + False </a:t>
            </a:r>
          </a:p>
          <a:p>
            <a:pPr lvl="3">
              <a:lnSpc>
                <a:spcPct val="90000"/>
              </a:lnSpc>
            </a:pPr>
            <a:r>
              <a:rPr lang="en-US" noProof="1"/>
              <a:t>IsTrue and IsFalse </a:t>
            </a:r>
            <a:r>
              <a:rPr lang="en-US"/>
              <a:t>are </a:t>
            </a:r>
            <a:r>
              <a:rPr lang="en-US" noProof="1"/>
              <a:t>generally false for typed Units</a:t>
            </a:r>
            <a:endParaRPr lang="de-DE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Boolesche Bereiche:</a:t>
            </a:r>
            <a:endParaRPr lang="de-DE"/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8229600" cy="5324475"/>
          </a:xfrm>
        </p:spPr>
        <p:txBody>
          <a:bodyPr/>
          <a:lstStyle/>
          <a:p>
            <a:r>
              <a:rPr lang="en-US">
                <a:sym typeface="Wingdings" pitchFamily="2" charset="2"/>
              </a:rPr>
              <a:t>NOT(x) = False + (True – x) </a:t>
            </a:r>
          </a:p>
          <a:p>
            <a:pPr lvl="1"/>
            <a:r>
              <a:rPr lang="en-US"/>
              <a:t>Sum und (-1)* genügt auch </a:t>
            </a:r>
          </a:p>
          <a:p>
            <a:r>
              <a:rPr lang="en-US"/>
              <a:t>[0,1] </a:t>
            </a:r>
            <a:r>
              <a:rPr lang="en-US">
                <a:sym typeface="Wingdings" pitchFamily="2" charset="2"/>
              </a:rPr>
              <a:t> !x = NOT(x) = 1-x = Resid(x)</a:t>
            </a:r>
          </a:p>
          <a:p>
            <a:r>
              <a:rPr lang="en-US"/>
              <a:t>[-1,1] </a:t>
            </a:r>
            <a:r>
              <a:rPr lang="en-US">
                <a:sym typeface="Wingdings" pitchFamily="2" charset="2"/>
              </a:rPr>
              <a:t> !x = NOT(x) = -x = Negate(x) </a:t>
            </a:r>
          </a:p>
          <a:p>
            <a:pPr lvl="1"/>
            <a:r>
              <a:rPr lang="en-US">
                <a:sym typeface="Wingdings" pitchFamily="2" charset="2"/>
              </a:rPr>
              <a:t>Schnelle Negation</a:t>
            </a:r>
          </a:p>
          <a:p>
            <a:pPr lvl="1"/>
            <a:r>
              <a:rPr lang="en-US">
                <a:sym typeface="Wingdings" pitchFamily="2" charset="2"/>
              </a:rPr>
              <a:t>!x kann nicht mit 0 verwechselt werden! </a:t>
            </a:r>
          </a:p>
          <a:p>
            <a:pPr lvl="1"/>
            <a:r>
              <a:rPr lang="en-US">
                <a:sym typeface="Wingdings" pitchFamily="2" charset="2"/>
              </a:rPr>
              <a:t>Auf null / indifferent initialisiert </a:t>
            </a:r>
          </a:p>
          <a:p>
            <a:pPr lvl="1"/>
            <a:r>
              <a:rPr lang="en-US">
                <a:sym typeface="Wingdings" pitchFamily="2" charset="2"/>
              </a:rPr>
              <a:t>nicht mit Wahrscheinlichkeiten verwechselbar</a:t>
            </a:r>
          </a:p>
          <a:p>
            <a:r>
              <a:rPr lang="en-US">
                <a:sym typeface="Wingdings" pitchFamily="2" charset="2"/>
              </a:rPr>
              <a:t>Müssen finit sein wg. Not / Subtraktion!!! </a:t>
            </a:r>
            <a:endParaRPr lang="de-DE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/>
              <a:t>Boolesche Bereiche:</a:t>
            </a:r>
            <a:endParaRPr lang="de-DE"/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200150"/>
            <a:ext cx="8642350" cy="53244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Es gibt nur 2 Boolesche Variable: T und F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Sie haben entsprechend nur den Wert 1 oder -1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Boolesche Werte dagegen sind frei </a:t>
            </a:r>
          </a:p>
          <a:p>
            <a:pPr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Um Werte und Variable zu kombinieren sollte der Bereich nicht überschritten werden</a:t>
            </a:r>
          </a:p>
          <a:p>
            <a:pPr>
              <a:lnSpc>
                <a:spcPct val="90000"/>
              </a:lnSpc>
            </a:pPr>
            <a:r>
              <a:rPr lang="en-US"/>
              <a:t>[-1e38,1e38] </a:t>
            </a:r>
            <a:r>
              <a:rPr lang="en-US">
                <a:sym typeface="Wingdings" pitchFamily="2" charset="2"/>
              </a:rPr>
              <a:t> !x = NOT(x) = -x = Negate(x) 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Support in Float und Double, 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Schnelle Negation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!x kann nicht mit 0 verwechselt werden! </a:t>
            </a:r>
          </a:p>
          <a:p>
            <a:pPr lvl="2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Auf null / indifferent initialisiert 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Wingdings" pitchFamily="2" charset="2"/>
              </a:rPr>
              <a:t>nicht mit Wahrscheinlichkeiten verwechselbar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Symbolische Operationen</a:t>
            </a:r>
            <a:endParaRPr lang="de-DE"/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3025"/>
            <a:ext cx="8496300" cy="5038725"/>
          </a:xfrm>
        </p:spPr>
        <p:txBody>
          <a:bodyPr/>
          <a:lstStyle/>
          <a:p>
            <a:r>
              <a:rPr lang="en-US"/>
              <a:t>Auswertung == Kanonisierung </a:t>
            </a:r>
          </a:p>
          <a:p>
            <a:pPr lvl="1"/>
            <a:r>
              <a:rPr lang="en-US"/>
              <a:t>Additive sortierte Normalform als Zielformat </a:t>
            </a:r>
          </a:p>
          <a:p>
            <a:pPr lvl="1"/>
            <a:r>
              <a:rPr lang="en-US"/>
              <a:t>Reicht aus für gemischte Polynome </a:t>
            </a:r>
          </a:p>
          <a:p>
            <a:r>
              <a:rPr lang="en-US"/>
              <a:t>Ableitung (immer möglich, auch partiell)</a:t>
            </a:r>
          </a:p>
          <a:p>
            <a:r>
              <a:rPr lang="en-US"/>
              <a:t>Integration (i.d.R. nur symbolisch) </a:t>
            </a:r>
          </a:p>
          <a:p>
            <a:pPr lvl="1"/>
            <a:r>
              <a:rPr lang="en-US"/>
              <a:t>Polynome, Potenzen exakt </a:t>
            </a:r>
          </a:p>
          <a:p>
            <a:pPr lvl="1"/>
            <a:r>
              <a:rPr lang="en-US"/>
              <a:t>analytische Funktionen exakt für lin. Argument </a:t>
            </a:r>
          </a:p>
          <a:p>
            <a:pPr lvl="1"/>
            <a:r>
              <a:rPr lang="en-US"/>
              <a:t>Ansonsten Potenzreihe integrieren </a:t>
            </a:r>
          </a:p>
          <a:p>
            <a:r>
              <a:rPr lang="en-US"/>
              <a:t>Invertierung (i.d.R. nur symbolisch) </a:t>
            </a:r>
            <a:endParaRPr lang="de-DE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Symbolische Operationen</a:t>
            </a:r>
            <a:endParaRPr lang="de-DE"/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3025"/>
            <a:ext cx="8496300" cy="5038725"/>
          </a:xfrm>
        </p:spPr>
        <p:txBody>
          <a:bodyPr/>
          <a:lstStyle/>
          <a:p>
            <a:r>
              <a:rPr lang="en-US"/>
              <a:t>Probleme: </a:t>
            </a:r>
          </a:p>
          <a:p>
            <a:pPr lvl="1"/>
            <a:r>
              <a:rPr lang="en-US"/>
              <a:t>Verschiedene Zielformate denkbar </a:t>
            </a:r>
          </a:p>
          <a:p>
            <a:pPr lvl="1"/>
            <a:r>
              <a:rPr lang="en-US"/>
              <a:t>Umwandlungen sind heuristisch </a:t>
            </a:r>
          </a:p>
          <a:p>
            <a:pPr lvl="2"/>
            <a:r>
              <a:rPr lang="en-US"/>
              <a:t>Heuristiken fehlen / müssen noch impl. werden </a:t>
            </a:r>
          </a:p>
          <a:p>
            <a:pPr lvl="2"/>
            <a:r>
              <a:rPr lang="en-US"/>
              <a:t>Nicht ALLE denkbaren Trafos impl. </a:t>
            </a:r>
          </a:p>
          <a:p>
            <a:pPr lvl="3">
              <a:buFont typeface="Wingdings" pitchFamily="2" charset="2"/>
              <a:buChar char="è"/>
            </a:pPr>
            <a:r>
              <a:rPr lang="en-US">
                <a:sym typeface="Wingdings" pitchFamily="2" charset="2"/>
              </a:rPr>
              <a:t>Zielrichtung ist implizit </a:t>
            </a:r>
          </a:p>
          <a:p>
            <a:pPr lvl="3">
              <a:buFont typeface="Wingdings" pitchFamily="2" charset="2"/>
              <a:buChar char="è"/>
            </a:pPr>
            <a:r>
              <a:rPr lang="en-US">
                <a:sym typeface="Wingdings" pitchFamily="2" charset="2"/>
              </a:rPr>
              <a:t>Nicht alle wünschenswerten Richtungen untersucht </a:t>
            </a:r>
          </a:p>
          <a:p>
            <a:pPr lvl="1"/>
            <a:r>
              <a:rPr lang="en-US">
                <a:sym typeface="Wingdings" pitchFamily="2" charset="2"/>
              </a:rPr>
              <a:t>Blackboard- Pattern </a:t>
            </a:r>
          </a:p>
          <a:p>
            <a:pPr lvl="3"/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Funktionen als Einheiten</a:t>
            </a:r>
            <a:endParaRPr lang="de-DE"/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496300" cy="4525963"/>
          </a:xfrm>
        </p:spPr>
        <p:txBody>
          <a:bodyPr/>
          <a:lstStyle/>
          <a:p>
            <a:r>
              <a:rPr lang="en-US"/>
              <a:t>Jede Funktion ist als Einheit zu behandeln:</a:t>
            </a:r>
          </a:p>
          <a:p>
            <a:pPr lvl="1"/>
            <a:r>
              <a:rPr lang="en-US"/>
              <a:t>Sie kann wohlunterschieden werden </a:t>
            </a:r>
          </a:p>
          <a:p>
            <a:pPr lvl="2"/>
            <a:r>
              <a:rPr lang="en-US"/>
              <a:t>Eignet sich deshalb als Basis-Vektor </a:t>
            </a:r>
          </a:p>
          <a:p>
            <a:pPr lvl="1"/>
            <a:r>
              <a:rPr lang="en-US"/>
              <a:t>GetUnit() muss also die String-Repräsentierung liefern </a:t>
            </a:r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Ausdrücke mit freien Variablen sind Funktionen </a:t>
            </a:r>
          </a:p>
          <a:p>
            <a:r>
              <a:rPr lang="en-US"/>
              <a:t>analytische Funktionen können symbolisch abgeleitet (integriert) werden </a:t>
            </a:r>
          </a:p>
          <a:p>
            <a:r>
              <a:rPr lang="en-US"/>
              <a:t>Programmierte Funktionen nicht </a:t>
            </a:r>
          </a:p>
          <a:p>
            <a:pPr lvl="1"/>
            <a:r>
              <a:rPr lang="en-US"/>
              <a:t>Aber wenn sie als AST vorliegen, schon! </a:t>
            </a:r>
            <a:endParaRPr lang="de-DE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Ausdrücke in Code umwandeln</a:t>
            </a:r>
            <a:endParaRPr lang="de-DE"/>
          </a:p>
        </p:txBody>
      </p:sp>
      <p:sp>
        <p:nvSpPr>
          <p:cNvPr id="81922" name="Rectangle 6"/>
          <p:cNvSpPr>
            <a:spLocks noChangeArrowheads="1"/>
          </p:cNvSpPr>
          <p:nvPr/>
        </p:nvSpPr>
        <p:spPr bwMode="auto">
          <a:xfrm>
            <a:off x="2339975" y="4221163"/>
            <a:ext cx="11017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string</a:t>
            </a:r>
            <a:endParaRPr lang="de-DE"/>
          </a:p>
        </p:txBody>
      </p:sp>
      <p:sp>
        <p:nvSpPr>
          <p:cNvPr id="81923" name="Rectangle 7"/>
          <p:cNvSpPr>
            <a:spLocks noChangeArrowheads="1"/>
          </p:cNvSpPr>
          <p:nvPr/>
        </p:nvSpPr>
        <p:spPr bwMode="auto">
          <a:xfrm>
            <a:off x="5846763" y="4221163"/>
            <a:ext cx="11017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IL-Code</a:t>
            </a:r>
            <a:endParaRPr lang="de-DE"/>
          </a:p>
        </p:txBody>
      </p:sp>
      <p:sp>
        <p:nvSpPr>
          <p:cNvPr id="81924" name="Rectangle 8"/>
          <p:cNvSpPr>
            <a:spLocks noChangeArrowheads="1"/>
          </p:cNvSpPr>
          <p:nvPr/>
        </p:nvSpPr>
        <p:spPr bwMode="auto">
          <a:xfrm>
            <a:off x="7215188" y="4992688"/>
            <a:ext cx="11017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x86 Code</a:t>
            </a:r>
            <a:endParaRPr lang="de-DE"/>
          </a:p>
        </p:txBody>
      </p:sp>
      <p:sp>
        <p:nvSpPr>
          <p:cNvPr id="81925" name="Rectangle 9"/>
          <p:cNvSpPr>
            <a:spLocks noChangeArrowheads="1"/>
          </p:cNvSpPr>
          <p:nvPr/>
        </p:nvSpPr>
        <p:spPr bwMode="auto">
          <a:xfrm>
            <a:off x="5846763" y="2349500"/>
            <a:ext cx="11017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AST</a:t>
            </a:r>
            <a:endParaRPr lang="de-DE"/>
          </a:p>
        </p:txBody>
      </p:sp>
      <p:cxnSp>
        <p:nvCxnSpPr>
          <p:cNvPr id="81926" name="AutoShape 10"/>
          <p:cNvCxnSpPr>
            <a:cxnSpLocks noChangeShapeType="1"/>
            <a:stCxn id="81922" idx="1"/>
            <a:endCxn id="81925" idx="0"/>
          </p:cNvCxnSpPr>
          <p:nvPr/>
        </p:nvCxnSpPr>
        <p:spPr bwMode="auto">
          <a:xfrm rot="10800000" flipH="1">
            <a:off x="2339975" y="2349500"/>
            <a:ext cx="4057650" cy="2062163"/>
          </a:xfrm>
          <a:prstGeom prst="curvedConnector4">
            <a:avLst>
              <a:gd name="adj1" fmla="val -30912"/>
              <a:gd name="adj2" fmla="val 132486"/>
            </a:avLst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81927" name="Rectangle 12"/>
          <p:cNvSpPr>
            <a:spLocks noChangeArrowheads="1"/>
          </p:cNvSpPr>
          <p:nvPr/>
        </p:nvSpPr>
        <p:spPr bwMode="auto">
          <a:xfrm>
            <a:off x="3841750" y="4497307"/>
            <a:ext cx="1720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noProof="1"/>
              <a:t>Reflection.Emit</a:t>
            </a:r>
            <a:endParaRPr lang="de-DE" dirty="0"/>
          </a:p>
        </p:txBody>
      </p:sp>
      <p:cxnSp>
        <p:nvCxnSpPr>
          <p:cNvPr id="81929" name="AutoShape 14" descr=".Compile()&#10;"/>
          <p:cNvCxnSpPr>
            <a:cxnSpLocks noChangeShapeType="1"/>
            <a:stCxn id="81925" idx="2"/>
            <a:endCxn id="81923" idx="0"/>
          </p:cNvCxnSpPr>
          <p:nvPr/>
        </p:nvCxnSpPr>
        <p:spPr bwMode="auto">
          <a:xfrm>
            <a:off x="6397625" y="2730500"/>
            <a:ext cx="0" cy="14906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81930" name="AutoShape 15" descr="JIT&#10;"/>
          <p:cNvCxnSpPr>
            <a:cxnSpLocks noChangeShapeType="1"/>
            <a:stCxn id="81923" idx="3"/>
            <a:endCxn id="81924" idx="0"/>
          </p:cNvCxnSpPr>
          <p:nvPr/>
        </p:nvCxnSpPr>
        <p:spPr bwMode="auto">
          <a:xfrm>
            <a:off x="6948488" y="4411663"/>
            <a:ext cx="817562" cy="581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1931" name="Rectangle 16"/>
          <p:cNvSpPr>
            <a:spLocks noChangeArrowheads="1"/>
          </p:cNvSpPr>
          <p:nvPr/>
        </p:nvSpPr>
        <p:spPr bwMode="auto">
          <a:xfrm>
            <a:off x="7235825" y="43656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JIT</a:t>
            </a:r>
            <a:endParaRPr lang="de-DE"/>
          </a:p>
        </p:txBody>
      </p:sp>
      <p:sp>
        <p:nvSpPr>
          <p:cNvPr id="81932" name="Rectangle 17"/>
          <p:cNvSpPr>
            <a:spLocks noChangeArrowheads="1"/>
          </p:cNvSpPr>
          <p:nvPr/>
        </p:nvSpPr>
        <p:spPr bwMode="auto">
          <a:xfrm>
            <a:off x="5781675" y="3062288"/>
            <a:ext cx="1238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.Compile()</a:t>
            </a:r>
            <a:endParaRPr lang="de-DE" dirty="0"/>
          </a:p>
        </p:txBody>
      </p:sp>
      <p:sp>
        <p:nvSpPr>
          <p:cNvPr id="81933" name="Rectangle 18"/>
          <p:cNvSpPr>
            <a:spLocks noChangeArrowheads="1"/>
          </p:cNvSpPr>
          <p:nvPr/>
        </p:nvSpPr>
        <p:spPr bwMode="auto">
          <a:xfrm>
            <a:off x="2195513" y="2349500"/>
            <a:ext cx="13906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LambdaCode</a:t>
            </a:r>
            <a:endParaRPr lang="de-DE"/>
          </a:p>
        </p:txBody>
      </p:sp>
      <p:cxnSp>
        <p:nvCxnSpPr>
          <p:cNvPr id="81934" name="AutoShape 19" descr="Csc.exe&#10;"/>
          <p:cNvCxnSpPr>
            <a:cxnSpLocks noChangeShapeType="1"/>
            <a:stCxn id="81933" idx="3"/>
            <a:endCxn id="81925" idx="1"/>
          </p:cNvCxnSpPr>
          <p:nvPr/>
        </p:nvCxnSpPr>
        <p:spPr bwMode="auto">
          <a:xfrm>
            <a:off x="3586163" y="2540000"/>
            <a:ext cx="22606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81935" name="AutoShape 20" descr="Generate()"/>
          <p:cNvCxnSpPr>
            <a:cxnSpLocks noChangeShapeType="1"/>
            <a:stCxn id="81922" idx="0"/>
            <a:endCxn id="81933" idx="2"/>
          </p:cNvCxnSpPr>
          <p:nvPr/>
        </p:nvCxnSpPr>
        <p:spPr bwMode="auto">
          <a:xfrm flipV="1">
            <a:off x="2890838" y="2730500"/>
            <a:ext cx="0" cy="14906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1936" name="Rectangle 21"/>
          <p:cNvSpPr>
            <a:spLocks noChangeArrowheads="1"/>
          </p:cNvSpPr>
          <p:nvPr/>
        </p:nvSpPr>
        <p:spPr bwMode="auto">
          <a:xfrm>
            <a:off x="1462088" y="3278188"/>
            <a:ext cx="145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Generierung</a:t>
            </a:r>
            <a:endParaRPr lang="de-DE"/>
          </a:p>
        </p:txBody>
      </p:sp>
      <p:sp>
        <p:nvSpPr>
          <p:cNvPr id="81937" name="Rectangle 23"/>
          <p:cNvSpPr>
            <a:spLocks noChangeArrowheads="1"/>
          </p:cNvSpPr>
          <p:nvPr/>
        </p:nvSpPr>
        <p:spPr bwMode="auto">
          <a:xfrm>
            <a:off x="4067175" y="2054225"/>
            <a:ext cx="100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Csc.exe</a:t>
            </a:r>
            <a:endParaRPr lang="de-DE" dirty="0"/>
          </a:p>
        </p:txBody>
      </p:sp>
      <p:sp>
        <p:nvSpPr>
          <p:cNvPr id="81938" name="Rectangle 24"/>
          <p:cNvSpPr>
            <a:spLocks noChangeArrowheads="1"/>
          </p:cNvSpPr>
          <p:nvPr/>
        </p:nvSpPr>
        <p:spPr bwMode="auto">
          <a:xfrm>
            <a:off x="4067175" y="3335338"/>
            <a:ext cx="12033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CodeDOM</a:t>
            </a:r>
            <a:endParaRPr lang="de-DE"/>
          </a:p>
        </p:txBody>
      </p:sp>
      <p:cxnSp>
        <p:nvCxnSpPr>
          <p:cNvPr id="81939" name="AutoShape 25" descr="Generate()"/>
          <p:cNvCxnSpPr>
            <a:cxnSpLocks noChangeShapeType="1"/>
            <a:stCxn id="81922" idx="3"/>
            <a:endCxn id="81938" idx="2"/>
          </p:cNvCxnSpPr>
          <p:nvPr/>
        </p:nvCxnSpPr>
        <p:spPr bwMode="auto">
          <a:xfrm flipV="1">
            <a:off x="3441700" y="3716338"/>
            <a:ext cx="1227138" cy="6953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81940" name="AutoShape 26"/>
          <p:cNvCxnSpPr>
            <a:cxnSpLocks noChangeShapeType="1"/>
            <a:stCxn id="81938" idx="0"/>
            <a:endCxn id="81933" idx="3"/>
          </p:cNvCxnSpPr>
          <p:nvPr/>
        </p:nvCxnSpPr>
        <p:spPr bwMode="auto">
          <a:xfrm flipH="1" flipV="1">
            <a:off x="3586163" y="2540000"/>
            <a:ext cx="1082675" cy="7953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81941" name="AutoShape 27" descr=".Compile()&#10;"/>
          <p:cNvCxnSpPr>
            <a:cxnSpLocks noChangeShapeType="1"/>
            <a:stCxn id="81938" idx="2"/>
            <a:endCxn id="81923" idx="1"/>
          </p:cNvCxnSpPr>
          <p:nvPr/>
        </p:nvCxnSpPr>
        <p:spPr bwMode="auto">
          <a:xfrm>
            <a:off x="4668838" y="3716338"/>
            <a:ext cx="1177925" cy="6953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1942" name="Rectangle 28"/>
          <p:cNvSpPr>
            <a:spLocks noChangeArrowheads="1"/>
          </p:cNvSpPr>
          <p:nvPr/>
        </p:nvSpPr>
        <p:spPr bwMode="auto">
          <a:xfrm>
            <a:off x="4702175" y="3854450"/>
            <a:ext cx="1238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.Compile()</a:t>
            </a:r>
            <a:endParaRPr lang="de-DE"/>
          </a:p>
        </p:txBody>
      </p:sp>
      <p:cxnSp>
        <p:nvCxnSpPr>
          <p:cNvPr id="81943" name="AutoShape 29" descr="Reflection.Emit&#10;"/>
          <p:cNvCxnSpPr>
            <a:cxnSpLocks noChangeShapeType="1"/>
            <a:stCxn id="81922" idx="3"/>
            <a:endCxn id="81923" idx="1"/>
          </p:cNvCxnSpPr>
          <p:nvPr/>
        </p:nvCxnSpPr>
        <p:spPr bwMode="auto">
          <a:xfrm>
            <a:off x="3441700" y="4411663"/>
            <a:ext cx="2405063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1944" name="Rectangle 30"/>
          <p:cNvSpPr>
            <a:spLocks noChangeArrowheads="1"/>
          </p:cNvSpPr>
          <p:nvPr/>
        </p:nvSpPr>
        <p:spPr bwMode="auto">
          <a:xfrm>
            <a:off x="3262313" y="3854450"/>
            <a:ext cx="145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Generierung</a:t>
            </a:r>
            <a:endParaRPr lang="de-DE" dirty="0"/>
          </a:p>
        </p:txBody>
      </p:sp>
      <p:sp>
        <p:nvSpPr>
          <p:cNvPr id="81945" name="Rectangle 31"/>
          <p:cNvSpPr>
            <a:spLocks noChangeArrowheads="1"/>
          </p:cNvSpPr>
          <p:nvPr/>
        </p:nvSpPr>
        <p:spPr bwMode="auto">
          <a:xfrm>
            <a:off x="3630613" y="1196975"/>
            <a:ext cx="173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Selbst parsen()</a:t>
            </a:r>
            <a:endParaRPr lang="de-DE"/>
          </a:p>
        </p:txBody>
      </p:sp>
      <p:sp>
        <p:nvSpPr>
          <p:cNvPr id="81946" name="Rectangle 32"/>
          <p:cNvSpPr>
            <a:spLocks noChangeArrowheads="1"/>
          </p:cNvSpPr>
          <p:nvPr/>
        </p:nvSpPr>
        <p:spPr bwMode="auto">
          <a:xfrm>
            <a:off x="7164388" y="2205038"/>
            <a:ext cx="1349375" cy="625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Expressions</a:t>
            </a:r>
          </a:p>
          <a:p>
            <a:pPr algn="ctr"/>
            <a:r>
              <a:rPr lang="en-US"/>
              <a:t>+Operators</a:t>
            </a:r>
            <a:endParaRPr lang="de-DE"/>
          </a:p>
        </p:txBody>
      </p:sp>
      <p:cxnSp>
        <p:nvCxnSpPr>
          <p:cNvPr id="81947" name="AutoShape 33"/>
          <p:cNvCxnSpPr>
            <a:cxnSpLocks noChangeShapeType="1"/>
            <a:stCxn id="81922" idx="1"/>
            <a:endCxn id="81946" idx="0"/>
          </p:cNvCxnSpPr>
          <p:nvPr/>
        </p:nvCxnSpPr>
        <p:spPr bwMode="auto">
          <a:xfrm rot="10800000" flipH="1">
            <a:off x="2339975" y="2205038"/>
            <a:ext cx="5499100" cy="2206625"/>
          </a:xfrm>
          <a:prstGeom prst="curvedConnector4">
            <a:avLst>
              <a:gd name="adj1" fmla="val -23009"/>
              <a:gd name="adj2" fmla="val 128199"/>
            </a:avLst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81948" name="Rectangle 34"/>
          <p:cNvSpPr>
            <a:spLocks noChangeArrowheads="1"/>
          </p:cNvSpPr>
          <p:nvPr/>
        </p:nvSpPr>
        <p:spPr bwMode="auto">
          <a:xfrm>
            <a:off x="7604125" y="3068638"/>
            <a:ext cx="130175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.Evaluate()</a:t>
            </a:r>
          </a:p>
          <a:p>
            <a:r>
              <a:rPr lang="en-US" dirty="0"/>
              <a:t>.Integrate()</a:t>
            </a:r>
          </a:p>
          <a:p>
            <a:r>
              <a:rPr lang="en-US" dirty="0"/>
              <a:t>.Derivate()</a:t>
            </a:r>
          </a:p>
          <a:p>
            <a:r>
              <a:rPr lang="en-US" dirty="0"/>
              <a:t>.Invert()</a:t>
            </a:r>
          </a:p>
          <a:p>
            <a:r>
              <a:rPr lang="en-US" dirty="0"/>
              <a:t>.</a:t>
            </a:r>
            <a:r>
              <a:rPr lang="en-US" dirty="0" err="1"/>
              <a:t>Currify</a:t>
            </a:r>
            <a:r>
              <a:rPr lang="en-US" dirty="0"/>
              <a:t>()</a:t>
            </a:r>
            <a:endParaRPr lang="de-DE" dirty="0"/>
          </a:p>
        </p:txBody>
      </p:sp>
      <p:cxnSp>
        <p:nvCxnSpPr>
          <p:cNvPr id="81949" name="AutoShape 35" descr=".Evaluate()&#10;.Integrate()&#10;.Derivate()&#10;.Invert()&#10;.Currify()&#10;"/>
          <p:cNvCxnSpPr>
            <a:cxnSpLocks noChangeShapeType="1"/>
            <a:stCxn id="81946" idx="2"/>
            <a:endCxn id="81946" idx="3"/>
          </p:cNvCxnSpPr>
          <p:nvPr/>
        </p:nvCxnSpPr>
        <p:spPr bwMode="auto">
          <a:xfrm rot="5400000" flipH="1" flipV="1">
            <a:off x="8020050" y="2336800"/>
            <a:ext cx="312738" cy="674688"/>
          </a:xfrm>
          <a:prstGeom prst="curvedConnector4">
            <a:avLst>
              <a:gd name="adj1" fmla="val -73097"/>
              <a:gd name="adj2" fmla="val 133884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3375"/>
            <a:ext cx="8229600" cy="701675"/>
          </a:xfrm>
        </p:spPr>
        <p:txBody>
          <a:bodyPr/>
          <a:lstStyle/>
          <a:p>
            <a:r>
              <a:rPr lang="en-US" sz="4000"/>
              <a:t>Parser: </a:t>
            </a:r>
            <a:endParaRPr lang="de-DE" sz="4000"/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71588"/>
            <a:ext cx="84963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Operatoren &amp; Präzedenz: </a:t>
            </a:r>
          </a:p>
          <a:p>
            <a:pPr lvl="1">
              <a:lnSpc>
                <a:spcPct val="90000"/>
              </a:lnSpc>
            </a:pPr>
            <a:r>
              <a:rPr lang="en-US"/>
              <a:t>Unary: +-!~	() mit Methodennamen davor </a:t>
            </a:r>
          </a:p>
          <a:p>
            <a:pPr lvl="1">
              <a:lnSpc>
                <a:spcPct val="90000"/>
              </a:lnSpc>
            </a:pPr>
            <a:r>
              <a:rPr lang="en-US"/>
              <a:t>Binary Multiplicative: */%</a:t>
            </a:r>
          </a:p>
          <a:p>
            <a:pPr lvl="1">
              <a:lnSpc>
                <a:spcPct val="90000"/>
              </a:lnSpc>
            </a:pPr>
            <a:r>
              <a:rPr lang="en-US"/>
              <a:t>Binary Additive: +-</a:t>
            </a:r>
          </a:p>
          <a:p>
            <a:pPr lvl="1">
              <a:lnSpc>
                <a:spcPct val="90000"/>
              </a:lnSpc>
            </a:pPr>
            <a:r>
              <a:rPr lang="en-US"/>
              <a:t>Binary Shift: &lt;&lt; &gt;&gt;</a:t>
            </a:r>
          </a:p>
          <a:p>
            <a:pPr lvl="1">
              <a:lnSpc>
                <a:spcPct val="90000"/>
              </a:lnSpc>
            </a:pPr>
            <a:r>
              <a:rPr lang="en-US"/>
              <a:t>Binary Relational: &lt;,&gt;,&lt;=,&gt;=</a:t>
            </a:r>
          </a:p>
          <a:p>
            <a:pPr lvl="1">
              <a:lnSpc>
                <a:spcPct val="90000"/>
              </a:lnSpc>
            </a:pPr>
            <a:r>
              <a:rPr lang="en-US"/>
              <a:t>Equality: == !=</a:t>
            </a:r>
          </a:p>
          <a:p>
            <a:pPr lvl="1">
              <a:lnSpc>
                <a:spcPct val="90000"/>
              </a:lnSpc>
            </a:pPr>
            <a:r>
              <a:rPr lang="en-US"/>
              <a:t>Logical (desc. Precedence): &amp;&gt;^&gt;|&gt;&amp;&amp;&gt;||&gt;?:</a:t>
            </a:r>
          </a:p>
          <a:p>
            <a:pPr lvl="1">
              <a:lnSpc>
                <a:spcPct val="90000"/>
              </a:lnSpc>
            </a:pPr>
            <a:r>
              <a:rPr lang="en-US"/>
              <a:t>Assignment: =, +=, -= *=, /=, ??</a:t>
            </a:r>
          </a:p>
          <a:p>
            <a:pPr lvl="1">
              <a:lnSpc>
                <a:spcPct val="90000"/>
              </a:lnSpc>
            </a:pPr>
            <a:r>
              <a:rPr lang="en-US"/>
              <a:t>Lambda Expression: =&gt; </a:t>
            </a:r>
            <a:endParaRPr lang="de-DE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4000"/>
              <a:t>Factory Methods for Expression Trees</a:t>
            </a:r>
            <a:endParaRPr lang="de-DE" sz="4000"/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LINQ uses Factory Methods instead of Constructors for the AST Elements </a:t>
            </a:r>
          </a:p>
          <a:p>
            <a:pPr lvl="1"/>
            <a:r>
              <a:rPr lang="en-US"/>
              <a:t>Easier to use: single Stop-Shop</a:t>
            </a:r>
          </a:p>
          <a:p>
            <a:pPr lvl="1"/>
            <a:r>
              <a:rPr lang="en-US"/>
              <a:t>Not open for Extension: needs MethodCall() </a:t>
            </a:r>
          </a:p>
          <a:p>
            <a:r>
              <a:rPr lang="en-US"/>
              <a:t>Intuitively, currying says "if you fix some arguments, you get a function of the remaining arguments"</a:t>
            </a:r>
            <a:endParaRPr lang="de-DE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23863"/>
            <a:ext cx="8642350" cy="844550"/>
          </a:xfrm>
        </p:spPr>
        <p:txBody>
          <a:bodyPr/>
          <a:lstStyle/>
          <a:p>
            <a:r>
              <a:rPr lang="en-US" sz="4000"/>
              <a:t>Linq-Expression&lt;Func&lt;R,P1,P2…&gt; </a:t>
            </a:r>
            <a:endParaRPr lang="de-DE" sz="4000"/>
          </a:p>
        </p:txBody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4963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/>
              <a:t>ConstantExpression: Atome wie „Haus“, 3.1415…</a:t>
            </a:r>
          </a:p>
          <a:p>
            <a:pPr>
              <a:lnSpc>
                <a:spcPct val="80000"/>
              </a:lnSpc>
            </a:pPr>
            <a:r>
              <a:rPr lang="de-DE" sz="2800"/>
              <a:t>BinaryExpression: +,-,*,/ etc. </a:t>
            </a:r>
          </a:p>
          <a:p>
            <a:pPr>
              <a:lnSpc>
                <a:spcPct val="80000"/>
              </a:lnSpc>
            </a:pPr>
            <a:r>
              <a:rPr lang="de-DE" sz="2800"/>
              <a:t>UnaryExpression: +,-, !, ~, (cast), … As …</a:t>
            </a:r>
          </a:p>
          <a:p>
            <a:pPr lvl="1">
              <a:lnSpc>
                <a:spcPct val="80000"/>
              </a:lnSpc>
            </a:pPr>
            <a:r>
              <a:rPr lang="de-DE" sz="2400"/>
              <a:t>TypeBinaryExpression: the … is … Test </a:t>
            </a:r>
          </a:p>
          <a:p>
            <a:pPr>
              <a:lnSpc>
                <a:spcPct val="80000"/>
              </a:lnSpc>
            </a:pPr>
            <a:r>
              <a:rPr lang="de-DE" sz="2800"/>
              <a:t>ConditionalExpression: ? : Operator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Multiply with Step-Function could trigger Evaluation! </a:t>
            </a:r>
            <a:endParaRPr lang="de-DE" sz="2400"/>
          </a:p>
          <a:p>
            <a:pPr>
              <a:lnSpc>
                <a:spcPct val="80000"/>
              </a:lnSpc>
            </a:pPr>
            <a:r>
              <a:rPr lang="de-DE" sz="2800"/>
              <a:t>MemberExpr…: Reading a Field or Property</a:t>
            </a:r>
          </a:p>
          <a:p>
            <a:pPr lvl="1">
              <a:lnSpc>
                <a:spcPct val="80000"/>
              </a:lnSpc>
            </a:pPr>
            <a:r>
              <a:rPr lang="de-DE" sz="2400"/>
              <a:t>Expression / Instance, FieldName / FieldInfo / PropertyInfo</a:t>
            </a:r>
          </a:p>
          <a:p>
            <a:pPr>
              <a:lnSpc>
                <a:spcPct val="80000"/>
              </a:lnSpc>
            </a:pPr>
            <a:r>
              <a:rPr lang="de-DE" sz="2800"/>
              <a:t>MemberInitExpr…: Initializing a Set of Fields / Properties (functional </a:t>
            </a:r>
            <a:r>
              <a:rPr lang="de-DE" sz="2800">
                <a:sym typeface="Wingdings" pitchFamily="2" charset="2"/>
              </a:rPr>
              <a:t> read-only otherwise!)</a:t>
            </a:r>
            <a:endParaRPr lang="de-DE" sz="2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23863"/>
            <a:ext cx="8642350" cy="844550"/>
          </a:xfrm>
        </p:spPr>
        <p:txBody>
          <a:bodyPr/>
          <a:lstStyle/>
          <a:p>
            <a:r>
              <a:rPr lang="en-US" sz="4000"/>
              <a:t>Linq-Expression&lt;Func&lt;R,P1,P2…&gt; </a:t>
            </a:r>
            <a:endParaRPr lang="de-DE" sz="4000"/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de-DE"/>
              <a:t>NewExpr…: ConstructorInfo, Argument Expressions[] </a:t>
            </a:r>
          </a:p>
          <a:p>
            <a:pPr lvl="1">
              <a:lnSpc>
                <a:spcPct val="90000"/>
              </a:lnSpc>
            </a:pPr>
            <a:r>
              <a:rPr lang="de-DE"/>
              <a:t>Vereinfacht: Type t = typeof(…) für leere Konstruktoren</a:t>
            </a:r>
          </a:p>
          <a:p>
            <a:pPr lvl="1">
              <a:lnSpc>
                <a:spcPct val="90000"/>
              </a:lnSpc>
            </a:pPr>
            <a:r>
              <a:rPr lang="en-US"/>
              <a:t>Members[]: Mapping to Object Properties for untyped Containers </a:t>
            </a:r>
            <a:endParaRPr lang="de-DE"/>
          </a:p>
          <a:p>
            <a:pPr>
              <a:lnSpc>
                <a:spcPct val="90000"/>
              </a:lnSpc>
            </a:pPr>
            <a:r>
              <a:rPr lang="de-DE"/>
              <a:t>NewArrayExpr…: creating and initializing an Array </a:t>
            </a:r>
          </a:p>
          <a:p>
            <a:pPr>
              <a:lnSpc>
                <a:spcPct val="90000"/>
              </a:lnSpc>
            </a:pPr>
            <a:r>
              <a:rPr lang="de-DE"/>
              <a:t>ListInitExpression: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23863"/>
            <a:ext cx="8642350" cy="844550"/>
          </a:xfrm>
        </p:spPr>
        <p:txBody>
          <a:bodyPr/>
          <a:lstStyle/>
          <a:p>
            <a:r>
              <a:rPr lang="en-US" sz="4000"/>
              <a:t>Linq-Expression&lt;Func&lt;R,P1,P2…&gt; </a:t>
            </a:r>
            <a:endParaRPr lang="de-DE" sz="4000"/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Call </a:t>
            </a:r>
            <a:r>
              <a:rPr lang="de-DE">
                <a:sym typeface="Wingdings" pitchFamily="2" charset="2"/>
              </a:rPr>
              <a:t></a:t>
            </a:r>
            <a:r>
              <a:rPr lang="de-DE"/>
              <a:t>MethodCallExpr…: Expression/Instance, MethodInfo / Name</a:t>
            </a:r>
          </a:p>
          <a:p>
            <a:r>
              <a:rPr lang="de-DE" noProof="1"/>
              <a:t>Invoke</a:t>
            </a:r>
            <a:r>
              <a:rPr lang="en-US"/>
              <a:t> </a:t>
            </a:r>
            <a:r>
              <a:rPr lang="en-US">
                <a:sym typeface="Wingdings" pitchFamily="2" charset="2"/>
              </a:rPr>
              <a:t> </a:t>
            </a:r>
            <a:r>
              <a:rPr lang="de-DE"/>
              <a:t>InvocationExpr…: Expression, Arguments[] (typisiert) </a:t>
            </a:r>
          </a:p>
          <a:p>
            <a:r>
              <a:rPr lang="de-DE" noProof="1"/>
              <a:t>Lambda</a:t>
            </a:r>
            <a:r>
              <a:rPr lang="en-US">
                <a:sym typeface="Wingdings" pitchFamily="2" charset="2"/>
              </a:rPr>
              <a:t></a:t>
            </a:r>
            <a:r>
              <a:rPr lang="de-DE"/>
              <a:t>LambdaExpr…: Body, Parameters[]  (untypisiert)</a:t>
            </a:r>
          </a:p>
          <a:p>
            <a:r>
              <a:rPr lang="de-DE"/>
              <a:t>ParameterExpression: Type t, string Name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 Interface</a:t>
            </a:r>
            <a:endParaRPr lang="de-DE"/>
          </a:p>
        </p:txBody>
      </p:sp>
      <p:sp>
        <p:nvSpPr>
          <p:cNvPr id="8806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600200"/>
            <a:ext cx="4244975" cy="4525963"/>
          </a:xfrm>
        </p:spPr>
        <p:txBody>
          <a:bodyPr/>
          <a:lstStyle/>
          <a:p>
            <a:r>
              <a:rPr lang="en-US"/>
              <a:t>IEnumerable: </a:t>
            </a:r>
          </a:p>
          <a:p>
            <a:pPr lvl="1"/>
            <a:r>
              <a:rPr lang="en-US"/>
              <a:t>Not Thread-safe: </a:t>
            </a:r>
          </a:p>
          <a:p>
            <a:pPr lvl="1"/>
            <a:r>
              <a:rPr lang="en-US"/>
              <a:t>If (bool e.MoveNext())</a:t>
            </a:r>
          </a:p>
          <a:p>
            <a:pPr lvl="2"/>
            <a:r>
              <a:rPr lang="en-US"/>
              <a:t>return e.Current; </a:t>
            </a:r>
          </a:p>
          <a:p>
            <a:pPr lvl="2"/>
            <a:r>
              <a:rPr lang="en-US"/>
              <a:t>e.Reset(); </a:t>
            </a:r>
          </a:p>
          <a:p>
            <a:r>
              <a:rPr lang="en-US">
                <a:sym typeface="Wingdings" pitchFamily="2" charset="2"/>
              </a:rPr>
              <a:t>nur </a:t>
            </a:r>
            <a:r>
              <a:rPr lang="en-US"/>
              <a:t>Single Threaded</a:t>
            </a:r>
          </a:p>
          <a:p>
            <a:pPr lvl="1"/>
            <a:endParaRPr lang="en-US"/>
          </a:p>
          <a:p>
            <a:pPr lvl="1"/>
            <a:endParaRPr lang="de-DE"/>
          </a:p>
        </p:txBody>
      </p:sp>
      <p:sp>
        <p:nvSpPr>
          <p:cNvPr id="88067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Bulk: </a:t>
            </a:r>
          </a:p>
          <a:p>
            <a:pPr lvl="1"/>
            <a:r>
              <a:rPr lang="en-US"/>
              <a:t>Thread-safe </a:t>
            </a:r>
          </a:p>
          <a:p>
            <a:pPr lvl="1"/>
            <a:r>
              <a:rPr lang="en-US"/>
              <a:t>int nextItems(T[]); </a:t>
            </a:r>
          </a:p>
          <a:p>
            <a:pPr lvl="1"/>
            <a:r>
              <a:rPr lang="en-US"/>
              <a:t>Spezialfall: TryGet </a:t>
            </a:r>
            <a:endParaRPr lang="de-DE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Pipes &amp; Filters mit …</a:t>
            </a:r>
            <a:endParaRPr lang="de-DE"/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Read &amp; Write </a:t>
            </a:r>
          </a:p>
          <a:p>
            <a:r>
              <a:rPr lang="en-US"/>
              <a:t>SetData() asynch </a:t>
            </a:r>
          </a:p>
          <a:p>
            <a:r>
              <a:rPr lang="en-US"/>
              <a:t>GetData() </a:t>
            </a:r>
          </a:p>
          <a:p>
            <a:pPr lvl="1"/>
            <a:r>
              <a:rPr lang="en-US"/>
              <a:t>synch oder… </a:t>
            </a:r>
          </a:p>
          <a:p>
            <a:pPr lvl="1"/>
            <a:r>
              <a:rPr lang="en-US"/>
              <a:t>asynch (Null Return)</a:t>
            </a:r>
          </a:p>
          <a:p>
            <a:endParaRPr lang="de-DE"/>
          </a:p>
        </p:txBody>
      </p:sp>
      <p:sp>
        <p:nvSpPr>
          <p:cNvPr id="890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4316413" cy="49974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Synch &amp; Asynch</a:t>
            </a:r>
          </a:p>
          <a:p>
            <a:r>
              <a:rPr lang="en-US"/>
              <a:t>Cache/Filter </a:t>
            </a:r>
          </a:p>
          <a:p>
            <a:pPr lvl="1"/>
            <a:r>
              <a:rPr lang="en-US"/>
              <a:t>C. liefert sofort oder </a:t>
            </a:r>
          </a:p>
          <a:p>
            <a:pPr lvl="1"/>
            <a:r>
              <a:rPr lang="en-US"/>
              <a:t>F. leitet weiter oder</a:t>
            </a:r>
          </a:p>
          <a:p>
            <a:pPr lvl="1"/>
            <a:r>
              <a:rPr lang="en-US"/>
              <a:t>Setzt Token für 2.Thread </a:t>
            </a:r>
          </a:p>
          <a:p>
            <a:r>
              <a:rPr lang="en-US"/>
              <a:t>Worker Thread(s) </a:t>
            </a:r>
          </a:p>
          <a:p>
            <a:pPr lvl="1"/>
            <a:r>
              <a:rPr lang="en-US"/>
              <a:t>Fragt Tokens ab und…</a:t>
            </a:r>
            <a:br>
              <a:rPr lang="en-US"/>
            </a:br>
            <a:r>
              <a:rPr lang="en-US"/>
              <a:t>füllt Cache</a:t>
            </a:r>
          </a:p>
          <a:p>
            <a:pPr lvl="1"/>
            <a:r>
              <a:rPr lang="en-US"/>
              <a:t>GetData() auf Providern </a:t>
            </a:r>
          </a:p>
          <a:p>
            <a:pPr lvl="1"/>
            <a:r>
              <a:rPr lang="en-US"/>
              <a:t>SetData() auf Cache</a:t>
            </a:r>
          </a:p>
          <a:p>
            <a:pPr lvl="1"/>
            <a:r>
              <a:rPr lang="en-US"/>
              <a:t>Mehrere (falls blockiert)</a:t>
            </a:r>
            <a:endParaRPr lang="de-DE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 </a:t>
            </a:r>
            <a:r>
              <a:rPr lang="en-US">
                <a:sym typeface="Wingdings" pitchFamily="2" charset="2"/>
              </a:rPr>
              <a:t> Asynch</a:t>
            </a:r>
            <a:endParaRPr lang="de-DE"/>
          </a:p>
        </p:txBody>
      </p:sp>
      <p:sp>
        <p:nvSpPr>
          <p:cNvPr id="9011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600200"/>
            <a:ext cx="4244975" cy="4525963"/>
          </a:xfrm>
        </p:spPr>
        <p:txBody>
          <a:bodyPr/>
          <a:lstStyle/>
          <a:p>
            <a:r>
              <a:rPr lang="en-US"/>
              <a:t>garantierte Antwortzeit</a:t>
            </a:r>
          </a:p>
          <a:p>
            <a:pPr lvl="1"/>
            <a:r>
              <a:rPr lang="en-US"/>
              <a:t>Leichter für Clients </a:t>
            </a:r>
          </a:p>
          <a:p>
            <a:pPr lvl="1"/>
            <a:r>
              <a:rPr lang="en-US"/>
              <a:t>Transport Layer Synch</a:t>
            </a:r>
          </a:p>
          <a:p>
            <a:r>
              <a:rPr lang="en-US"/>
              <a:t>Wechsel durch…</a:t>
            </a:r>
          </a:p>
          <a:p>
            <a:pPr lvl="1"/>
            <a:r>
              <a:rPr lang="en-US"/>
              <a:t>Abruf in WorkerThread und Synch mit Timeout</a:t>
            </a:r>
          </a:p>
          <a:p>
            <a:pPr lvl="1"/>
            <a:r>
              <a:rPr lang="en-US"/>
              <a:t>am besten Delegate </a:t>
            </a:r>
            <a:endParaRPr lang="de-DE"/>
          </a:p>
        </p:txBody>
      </p:sp>
      <p:sp>
        <p:nvSpPr>
          <p:cNvPr id="90115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Für Services, die blockieren können</a:t>
            </a:r>
          </a:p>
          <a:p>
            <a:pPr lvl="1"/>
            <a:r>
              <a:rPr lang="en-US"/>
              <a:t>Benötigt Polling </a:t>
            </a:r>
          </a:p>
          <a:p>
            <a:pPr lvl="2"/>
            <a:r>
              <a:rPr lang="en-US"/>
              <a:t>App-Layer Synch </a:t>
            </a:r>
          </a:p>
          <a:p>
            <a:r>
              <a:rPr lang="en-US"/>
              <a:t>Einfacher Wechsel…</a:t>
            </a:r>
          </a:p>
          <a:p>
            <a:pPr lvl="1"/>
            <a:r>
              <a:rPr lang="en-US"/>
              <a:t>Polling (mit sleep()!) und Timeout.</a:t>
            </a:r>
          </a:p>
          <a:p>
            <a:r>
              <a:rPr lang="en-US"/>
              <a:t>Client: 3 * polling (bis 200ms Reaktionszeit) </a:t>
            </a:r>
          </a:p>
          <a:p>
            <a:pPr lvl="1"/>
            <a:r>
              <a:rPr lang="en-US"/>
              <a:t>‘Latenz’ &amp; Impedanz </a:t>
            </a:r>
            <a:endParaRPr lang="de-DE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Impedanz, Latenz &amp; Bandbreite</a:t>
            </a:r>
            <a:endParaRPr lang="de-DE"/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Erhaltungssätze / Zeit </a:t>
            </a:r>
            <a:r>
              <a:rPr lang="en-US">
                <a:sym typeface="Wingdings" pitchFamily="2" charset="2"/>
              </a:rPr>
              <a:t> Impedanzbegriff </a:t>
            </a:r>
            <a:endParaRPr lang="en-US"/>
          </a:p>
          <a:p>
            <a:r>
              <a:rPr lang="en-US"/>
              <a:t>Ein Mismatch in Impedanz bedeutet: </a:t>
            </a:r>
          </a:p>
          <a:p>
            <a:pPr lvl="1"/>
            <a:r>
              <a:rPr lang="en-US"/>
              <a:t>Engpässe </a:t>
            </a:r>
          </a:p>
          <a:p>
            <a:r>
              <a:rPr lang="en-US"/>
              <a:t>erzeugt Staus </a:t>
            </a:r>
            <a:r>
              <a:rPr lang="en-US">
                <a:sym typeface="Wingdings" pitchFamily="2" charset="2"/>
              </a:rPr>
              <a:t> benötigt Speicher </a:t>
            </a:r>
          </a:p>
          <a:p>
            <a:r>
              <a:rPr lang="en-US">
                <a:sym typeface="Wingdings" pitchFamily="2" charset="2"/>
              </a:rPr>
              <a:t>Bandbreite = 1 / Verarbeitungsdauer </a:t>
            </a:r>
          </a:p>
          <a:p>
            <a:r>
              <a:rPr lang="en-US">
                <a:sym typeface="Wingdings" pitchFamily="2" charset="2"/>
              </a:rPr>
              <a:t>Impedanz = Verarbeitungsdauer / #Kanäle </a:t>
            </a:r>
          </a:p>
          <a:p>
            <a:r>
              <a:rPr lang="en-US">
                <a:sym typeface="Wingdings" pitchFamily="2" charset="2"/>
              </a:rPr>
              <a:t>Latenz </a:t>
            </a:r>
            <a:endParaRPr lang="de-DE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Informations- Organisation</a:t>
            </a:r>
            <a:endParaRPr lang="de-DE"/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Alles Unbekannte ist problematisch! </a:t>
            </a:r>
          </a:p>
          <a:p>
            <a:pPr lvl="1"/>
            <a:r>
              <a:rPr lang="en-US"/>
              <a:t>Blockiert Denken </a:t>
            </a:r>
          </a:p>
          <a:p>
            <a:r>
              <a:rPr lang="en-US"/>
              <a:t>Alles Bekannte ‘nach vorn ziehen’ </a:t>
            </a:r>
          </a:p>
          <a:p>
            <a:pPr lvl="1"/>
            <a:r>
              <a:rPr lang="en-US"/>
              <a:t>Alles Einfache vorziehen </a:t>
            </a:r>
          </a:p>
          <a:p>
            <a:pPr lvl="2">
              <a:buFontTx/>
              <a:buNone/>
            </a:pPr>
            <a:r>
              <a:rPr lang="en-US">
                <a:sym typeface="Wingdings" pitchFamily="2" charset="2"/>
              </a:rPr>
              <a:t> ignorierbar, Nachverarbeitung möglich </a:t>
            </a:r>
            <a:endParaRPr lang="en-US"/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Mächtigkeit des Kalküls</a:t>
            </a:r>
            <a:endParaRPr lang="de-DE"/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4963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Symbolische Aufrufe mit lokalen Variablen</a:t>
            </a:r>
          </a:p>
          <a:p>
            <a:pPr lvl="1">
              <a:lnSpc>
                <a:spcPct val="90000"/>
              </a:lnSpc>
            </a:pPr>
            <a:r>
              <a:rPr lang="en-US"/>
              <a:t>Können immer durch Stack ersetzt werden </a:t>
            </a:r>
          </a:p>
          <a:p>
            <a:pPr lvl="1">
              <a:lnSpc>
                <a:spcPct val="90000"/>
              </a:lnSpc>
            </a:pPr>
            <a:r>
              <a:rPr lang="en-US"/>
              <a:t>Erlauben Rekursion </a:t>
            </a:r>
            <a:r>
              <a:rPr lang="en-US">
                <a:sym typeface="Wingdings" pitchFamily="2" charset="2"/>
              </a:rPr>
              <a:t> </a:t>
            </a:r>
            <a:r>
              <a:rPr lang="en-US"/>
              <a:t>einfacherer Code</a:t>
            </a:r>
          </a:p>
          <a:p>
            <a:pPr>
              <a:lnSpc>
                <a:spcPct val="90000"/>
              </a:lnSpc>
            </a:pPr>
            <a:r>
              <a:rPr lang="en-US"/>
              <a:t>Schleifen können immer durch Rekursion ersetzt werden, NICHT umgekehrt! </a:t>
            </a:r>
          </a:p>
          <a:p>
            <a:pPr lvl="1">
              <a:lnSpc>
                <a:spcPct val="90000"/>
              </a:lnSpc>
            </a:pPr>
            <a:r>
              <a:rPr lang="en-US"/>
              <a:t>Nur ‘Tail-Recursion’ (Wert nicht mehr benötigt)</a:t>
            </a:r>
          </a:p>
          <a:p>
            <a:pPr>
              <a:lnSpc>
                <a:spcPct val="90000"/>
              </a:lnSpc>
            </a:pPr>
            <a:r>
              <a:rPr lang="en-US"/>
              <a:t>Verzögerte Auswertung: </a:t>
            </a:r>
          </a:p>
          <a:p>
            <a:pPr lvl="1">
              <a:lnSpc>
                <a:spcPct val="90000"/>
              </a:lnSpc>
            </a:pPr>
            <a:r>
              <a:rPr lang="en-US"/>
              <a:t>unmögliche Operationen aufheben (Integration) </a:t>
            </a:r>
          </a:p>
          <a:p>
            <a:pPr lvl="1">
              <a:lnSpc>
                <a:spcPct val="90000"/>
              </a:lnSpc>
            </a:pPr>
            <a:r>
              <a:rPr lang="en-US"/>
              <a:t>Schwere Operationen aufschieben (lazy)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3863"/>
            <a:ext cx="8229600" cy="844550"/>
          </a:xfrm>
        </p:spPr>
        <p:txBody>
          <a:bodyPr/>
          <a:lstStyle/>
          <a:p>
            <a:r>
              <a:rPr lang="en-US"/>
              <a:t>IStreamIn_&lt;T&gt;</a:t>
            </a:r>
            <a:endParaRPr lang="de-DE"/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3025"/>
            <a:ext cx="8229600" cy="5038725"/>
          </a:xfrm>
        </p:spPr>
        <p:txBody>
          <a:bodyPr/>
          <a:lstStyle/>
          <a:p>
            <a:r>
              <a:rPr lang="en-US"/>
              <a:t>Delegates </a:t>
            </a:r>
            <a:r>
              <a:rPr lang="en-US">
                <a:sym typeface="Wingdings" pitchFamily="2" charset="2"/>
              </a:rPr>
              <a:t> Interfaces  Frameworks </a:t>
            </a:r>
          </a:p>
          <a:p>
            <a:r>
              <a:rPr lang="en-US">
                <a:sym typeface="Wingdings" pitchFamily="2" charset="2"/>
              </a:rPr>
              <a:t>Parser-Infrastruktur: </a:t>
            </a:r>
          </a:p>
          <a:p>
            <a:pPr lvl="1"/>
            <a:r>
              <a:rPr lang="en-US"/>
              <a:t>Zuerst in Chunks zerschneiden… </a:t>
            </a:r>
          </a:p>
          <a:p>
            <a:pPr lvl="2"/>
            <a:r>
              <a:rPr lang="en-US"/>
              <a:t>Diese dann durch Sub-Parser verarbeiten </a:t>
            </a:r>
          </a:p>
          <a:p>
            <a:pPr lvl="3"/>
            <a:r>
              <a:rPr lang="en-US"/>
              <a:t>Parallelisierbar, schneller, da kleinere SubSprache </a:t>
            </a:r>
          </a:p>
          <a:p>
            <a:pPr lvl="1"/>
            <a:r>
              <a:rPr lang="en-US"/>
              <a:t>Alles in einer Grammatik</a:t>
            </a:r>
          </a:p>
          <a:p>
            <a:pPr lvl="2"/>
            <a:r>
              <a:rPr lang="en-US"/>
              <a:t>schnell, aber single-Threaded </a:t>
            </a:r>
          </a:p>
          <a:p>
            <a:pPr lvl="1"/>
            <a:r>
              <a:rPr lang="en-US"/>
              <a:t>IEnumerable eignet sich für LL(1) Parser! </a:t>
            </a:r>
          </a:p>
          <a:p>
            <a:pPr lvl="2"/>
            <a:r>
              <a:rPr lang="en-US"/>
              <a:t>Nur Current muss untersucht werden. </a:t>
            </a:r>
          </a:p>
          <a:p>
            <a:pPr lvl="2"/>
            <a:r>
              <a:rPr lang="en-US"/>
              <a:t>Pushback nicht nötig</a:t>
            </a:r>
            <a:endParaRPr lang="de-DE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IStreamOut&lt;T&gt;</a:t>
            </a:r>
            <a:endParaRPr lang="de-DE"/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Uncritical and unambiguous: </a:t>
            </a:r>
          </a:p>
          <a:p>
            <a:pPr lvl="1"/>
            <a:r>
              <a:rPr lang="en-US"/>
              <a:t>bool addItem(T value); //true for Queues </a:t>
            </a:r>
          </a:p>
          <a:p>
            <a:pPr lvl="1"/>
            <a:r>
              <a:rPr lang="en-US"/>
              <a:t>int addItems(T[] values, int start, int end); </a:t>
            </a:r>
            <a:endParaRPr lang="de-DE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Grammars </a:t>
            </a:r>
            <a:endParaRPr lang="de-DE"/>
          </a:p>
        </p:txBody>
      </p:sp>
      <p:sp>
        <p:nvSpPr>
          <p:cNvPr id="96258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/>
              <a:t>Easy to implement: </a:t>
            </a:r>
          </a:p>
          <a:p>
            <a:pPr lvl="1"/>
            <a:r>
              <a:rPr lang="en-US"/>
              <a:t>Functional </a:t>
            </a:r>
          </a:p>
          <a:p>
            <a:pPr lvl="1"/>
            <a:r>
              <a:rPr lang="en-US"/>
              <a:t>Expressions </a:t>
            </a:r>
          </a:p>
          <a:p>
            <a:pPr lvl="1"/>
            <a:endParaRPr lang="de-DE"/>
          </a:p>
        </p:txBody>
      </p:sp>
      <p:sp>
        <p:nvSpPr>
          <p:cNvPr id="96259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Easy to use </a:t>
            </a:r>
          </a:p>
          <a:p>
            <a:pPr lvl="1"/>
            <a:r>
              <a:rPr lang="en-US"/>
              <a:t>Procedural </a:t>
            </a:r>
          </a:p>
          <a:p>
            <a:pPr lvl="1"/>
            <a:endParaRPr lang="en-US"/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Languages</a:t>
            </a:r>
            <a:endParaRPr lang="de-DE"/>
          </a:p>
        </p:txBody>
      </p:sp>
      <p:sp>
        <p:nvSpPr>
          <p:cNvPr id="972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or single Assignments </a:t>
            </a:r>
          </a:p>
          <a:p>
            <a:pPr lvl="1"/>
            <a:r>
              <a:rPr lang="en-US"/>
              <a:t>No Side-Effects</a:t>
            </a:r>
          </a:p>
          <a:p>
            <a:pPr lvl="1"/>
            <a:r>
              <a:rPr lang="en-US"/>
              <a:t>Thread-safe </a:t>
            </a:r>
          </a:p>
          <a:p>
            <a:pPr lvl="1"/>
            <a:r>
              <a:rPr lang="en-US"/>
              <a:t>Only Synchronization during GC </a:t>
            </a:r>
          </a:p>
          <a:p>
            <a:pPr lvl="1"/>
            <a:r>
              <a:rPr lang="en-US"/>
              <a:t>A bit more expensive, because continuously generating NEW Objects (which is atomic!) </a:t>
            </a:r>
          </a:p>
          <a:p>
            <a:pPr lvl="1"/>
            <a:r>
              <a:rPr lang="en-US"/>
              <a:t>Simplification of unary Functions is atomic </a:t>
            </a:r>
          </a:p>
          <a:p>
            <a:pPr lvl="1"/>
            <a:r>
              <a:rPr lang="en-US"/>
              <a:t>Simplification of n-Ary Functions is done either during Creation or best via a new Func!</a:t>
            </a:r>
            <a:endParaRPr lang="de-DE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Syntax vs. Object-O.</a:t>
            </a:r>
            <a:endParaRPr lang="de-DE"/>
          </a:p>
        </p:txBody>
      </p:sp>
      <p:sp>
        <p:nvSpPr>
          <p:cNvPr id="98306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341438"/>
            <a:ext cx="4316412" cy="4349750"/>
          </a:xfrm>
        </p:spPr>
        <p:txBody>
          <a:bodyPr/>
          <a:lstStyle/>
          <a:p>
            <a:r>
              <a:rPr lang="en-US"/>
              <a:t>Needs no ‘.’</a:t>
            </a:r>
          </a:p>
          <a:p>
            <a:pPr lvl="1"/>
            <a:r>
              <a:rPr lang="en-US"/>
              <a:t>Brief </a:t>
            </a:r>
          </a:p>
          <a:p>
            <a:pPr lvl="1"/>
            <a:r>
              <a:rPr lang="en-US"/>
              <a:t>Nested </a:t>
            </a:r>
          </a:p>
          <a:p>
            <a:r>
              <a:rPr lang="en-US"/>
              <a:t>If no Operators, unintuitive Syntax: </a:t>
            </a:r>
          </a:p>
          <a:p>
            <a:pPr lvl="1"/>
            <a:r>
              <a:rPr lang="en-US"/>
              <a:t>Brackets ! (even for unary &amp; binary Ops) </a:t>
            </a:r>
          </a:p>
          <a:p>
            <a:r>
              <a:rPr lang="en-US"/>
              <a:t>Parser easy</a:t>
            </a:r>
            <a:endParaRPr lang="de-DE"/>
          </a:p>
        </p:txBody>
      </p:sp>
      <p:sp>
        <p:nvSpPr>
          <p:cNvPr id="98307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341438"/>
            <a:ext cx="4038600" cy="4349750"/>
          </a:xfrm>
        </p:spPr>
        <p:txBody>
          <a:bodyPr/>
          <a:lstStyle/>
          <a:p>
            <a:r>
              <a:rPr lang="en-US"/>
              <a:t>Distinguishes static Functions and OO Methods. </a:t>
            </a:r>
          </a:p>
          <a:p>
            <a:r>
              <a:rPr lang="en-US"/>
              <a:t>Operators not needed</a:t>
            </a:r>
          </a:p>
          <a:p>
            <a:r>
              <a:rPr lang="en-US"/>
              <a:t>Intuitive Infix Syntax for binary Operators </a:t>
            </a:r>
          </a:p>
          <a:p>
            <a:r>
              <a:rPr lang="en-US"/>
              <a:t>Parser needs Stack</a:t>
            </a:r>
          </a:p>
          <a:p>
            <a:endParaRPr lang="de-DE"/>
          </a:p>
        </p:txBody>
      </p:sp>
      <p:sp>
        <p:nvSpPr>
          <p:cNvPr id="98308" name="Text Box 7"/>
          <p:cNvSpPr txBox="1">
            <a:spLocks noChangeArrowheads="1"/>
          </p:cNvSpPr>
          <p:nvPr/>
        </p:nvSpPr>
        <p:spPr bwMode="auto">
          <a:xfrm>
            <a:off x="671513" y="6011863"/>
            <a:ext cx="7670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/>
              <a:t>Rather have a Syntax Tree/Object Graph!</a:t>
            </a:r>
            <a:endParaRPr lang="de-DE" sz="3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Strategy</a:t>
            </a:r>
            <a:endParaRPr lang="de-DE"/>
          </a:p>
        </p:txBody>
      </p:sp>
      <p:sp>
        <p:nvSpPr>
          <p:cNvPr id="99330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Dummy Implementation</a:t>
            </a:r>
          </a:p>
          <a:p>
            <a:r>
              <a:rPr lang="en-US"/>
              <a:t>SPoC: relievable </a:t>
            </a:r>
          </a:p>
          <a:p>
            <a:r>
              <a:rPr lang="en-US"/>
              <a:t>Easier Packaging </a:t>
            </a:r>
            <a:endParaRPr lang="de-DE"/>
          </a:p>
        </p:txBody>
      </p:sp>
      <p:sp>
        <p:nvSpPr>
          <p:cNvPr id="99331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Functionality Restriction </a:t>
            </a:r>
          </a:p>
          <a:p>
            <a:r>
              <a:rPr lang="en-US"/>
              <a:t>Hard to taylor correct </a:t>
            </a:r>
          </a:p>
          <a:p>
            <a:r>
              <a:rPr lang="en-US"/>
              <a:t>Hard to undo </a:t>
            </a:r>
          </a:p>
          <a:p>
            <a:r>
              <a:rPr lang="en-US"/>
              <a:t>Leads to patchwork </a:t>
            </a:r>
          </a:p>
          <a:p>
            <a:r>
              <a:rPr lang="en-US"/>
              <a:t>Compiler Switches </a:t>
            </a:r>
            <a:endParaRPr lang="de-DE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 </a:t>
            </a:r>
            <a:endParaRPr lang="de-DE"/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3025"/>
            <a:ext cx="8785225" cy="5514975"/>
          </a:xfrm>
        </p:spPr>
        <p:txBody>
          <a:bodyPr/>
          <a:lstStyle/>
          <a:p>
            <a:r>
              <a:rPr lang="en-US"/>
              <a:t>Add more Functions </a:t>
            </a:r>
          </a:p>
          <a:p>
            <a:r>
              <a:rPr lang="en-US"/>
              <a:t>Complete Integrals of existing Functions</a:t>
            </a:r>
          </a:p>
          <a:p>
            <a:r>
              <a:rPr lang="en-US"/>
              <a:t>Test all Implementations, also in Combination </a:t>
            </a:r>
          </a:p>
          <a:p>
            <a:pPr lvl="1"/>
            <a:r>
              <a:rPr lang="en-US"/>
              <a:t>Numerical and symbolic Stability not clear </a:t>
            </a:r>
          </a:p>
          <a:p>
            <a:r>
              <a:rPr lang="en-US"/>
              <a:t>Guideline for Fixes / Extensions: </a:t>
            </a:r>
          </a:p>
          <a:p>
            <a:pPr lvl="1"/>
            <a:r>
              <a:rPr lang="en-US"/>
              <a:t>Generalize the Domain as far as possible </a:t>
            </a:r>
          </a:p>
          <a:p>
            <a:pPr lvl="2"/>
            <a:r>
              <a:rPr lang="en-US"/>
              <a:t>This is an experimental System that should reveal unexpected transcending Results instead of just throwing an Exception </a:t>
            </a:r>
          </a:p>
          <a:p>
            <a:pPr lvl="1"/>
            <a:r>
              <a:rPr lang="en-US"/>
              <a:t>Goal: implement Category Theory</a:t>
            </a:r>
            <a:endParaRPr lang="de-DE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Symbolic Operations</a:t>
            </a:r>
            <a:endParaRPr lang="de-DE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Operations that can be operated on: </a:t>
            </a:r>
          </a:p>
          <a:p>
            <a:pPr lvl="1"/>
            <a:r>
              <a:rPr lang="en-US"/>
              <a:t>Invertable Functions define their Inverse etc. </a:t>
            </a:r>
          </a:p>
          <a:p>
            <a:pPr lvl="1"/>
            <a:r>
              <a:rPr lang="en-US"/>
              <a:t>Integration/Differentiation are commutable </a:t>
            </a:r>
          </a:p>
          <a:p>
            <a:r>
              <a:rPr lang="en-US"/>
              <a:t>Other Operations can only be currified: </a:t>
            </a:r>
          </a:p>
          <a:p>
            <a:pPr lvl="1"/>
            <a:r>
              <a:rPr lang="en-US"/>
              <a:t>isEqual can be converted into a symbolic Call or substituted by a Step-Combination </a:t>
            </a:r>
          </a:p>
          <a:p>
            <a:pPr lvl="2"/>
            <a:r>
              <a:rPr lang="en-US"/>
              <a:t>The latter can also be differentiated etc. but is harder to read! </a:t>
            </a:r>
            <a:endParaRPr lang="de-DE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</a:t>
            </a:r>
            <a:endParaRPr lang="de-DE"/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8925"/>
            <a:ext cx="8496300" cy="4606925"/>
          </a:xfrm>
        </p:spPr>
        <p:txBody>
          <a:bodyPr/>
          <a:lstStyle/>
          <a:p>
            <a:r>
              <a:rPr lang="en-US"/>
              <a:t>Parallele Algorithmen mit ParallelFX </a:t>
            </a:r>
          </a:p>
          <a:p>
            <a:r>
              <a:rPr lang="en-US"/>
              <a:t>Einbindung paralleler Libraries </a:t>
            </a:r>
          </a:p>
          <a:p>
            <a:pPr lvl="1"/>
            <a:r>
              <a:rPr lang="en-US"/>
              <a:t>CUDA (CUBLAS, CUFFT von NVIDIA und ATI) </a:t>
            </a:r>
          </a:p>
          <a:p>
            <a:r>
              <a:rPr lang="en-US"/>
              <a:t>Besonders für lineare Operationen: </a:t>
            </a:r>
          </a:p>
          <a:p>
            <a:pPr lvl="1"/>
            <a:r>
              <a:rPr lang="en-US"/>
              <a:t>Faltung eines Streams mit einem Kernel </a:t>
            </a:r>
          </a:p>
          <a:p>
            <a:pPr lvl="2"/>
            <a:r>
              <a:rPr lang="en-US"/>
              <a:t>Ca. 8kB Cache und 8192 Register / MultiProcessor </a:t>
            </a:r>
          </a:p>
          <a:p>
            <a:pPr lvl="2"/>
            <a:r>
              <a:rPr lang="en-US"/>
              <a:t>Input: Gather 	Output: Scatter </a:t>
            </a:r>
          </a:p>
          <a:p>
            <a:pPr lvl="1"/>
            <a:endParaRPr lang="de-DE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Schlussfolgerungen </a:t>
            </a:r>
            <a:endParaRPr lang="de-DE"/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3025"/>
            <a:ext cx="8785225" cy="5038725"/>
          </a:xfrm>
        </p:spPr>
        <p:txBody>
          <a:bodyPr/>
          <a:lstStyle/>
          <a:p>
            <a:r>
              <a:rPr lang="en-US"/>
              <a:t>Offene Daten-Basis</a:t>
            </a:r>
          </a:p>
          <a:p>
            <a:r>
              <a:rPr lang="en-US"/>
              <a:t>Regel-Basis / Definitionen </a:t>
            </a:r>
          </a:p>
          <a:p>
            <a:endParaRPr lang="en-US"/>
          </a:p>
          <a:p>
            <a:r>
              <a:rPr lang="en-US"/>
              <a:t>Attribute = Relationen zu Atomen</a:t>
            </a:r>
          </a:p>
          <a:p>
            <a:r>
              <a:rPr lang="en-US"/>
              <a:t>Relationen = Zeiger </a:t>
            </a:r>
          </a:p>
          <a:p>
            <a:endParaRPr lang="en-US"/>
          </a:p>
          <a:p>
            <a:r>
              <a:rPr lang="en-US"/>
              <a:t>Constraint Solver sind eine Alternative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Schlussfolgerungen 2</a:t>
            </a:r>
            <a:endParaRPr lang="de-DE"/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343025"/>
            <a:ext cx="8785225" cy="5038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Per </a:t>
            </a:r>
            <a:r>
              <a:rPr lang="en-US" sz="2800" b="1"/>
              <a:t>Reflection</a:t>
            </a:r>
            <a:r>
              <a:rPr lang="en-US" sz="2800"/>
              <a:t> auf OO Datenbasis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Oder RDF Statements: Subject-Predicate-Object/Atom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Besser: dynamic Objects; sind strukturierter </a:t>
            </a:r>
          </a:p>
          <a:p>
            <a:pPr>
              <a:lnSpc>
                <a:spcPct val="90000"/>
              </a:lnSpc>
            </a:pPr>
            <a:r>
              <a:rPr lang="en-US" sz="2800"/>
              <a:t>Attribute = Relationen zu Atomen</a:t>
            </a:r>
          </a:p>
          <a:p>
            <a:pPr>
              <a:lnSpc>
                <a:spcPct val="90000"/>
              </a:lnSpc>
            </a:pPr>
            <a:r>
              <a:rPr lang="en-US" sz="2800"/>
              <a:t>Relationen = Zeiger </a:t>
            </a:r>
          </a:p>
          <a:p>
            <a:pPr>
              <a:lnSpc>
                <a:spcPct val="90000"/>
              </a:lnSpc>
            </a:pPr>
            <a:r>
              <a:rPr lang="en-US" sz="2800"/>
              <a:t>Vorteil: Daten sind für prozedurale UND Logik-Operationen zugänglich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Breadth-Search mit Priority Queue </a:t>
            </a:r>
          </a:p>
          <a:p>
            <a:pPr>
              <a:lnSpc>
                <a:spcPct val="90000"/>
              </a:lnSpc>
            </a:pPr>
            <a:r>
              <a:rPr lang="en-US" sz="2800"/>
              <a:t>Problem: Struktur muss doppelt verpointert sein für Navigation in beide Richtungen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Aber in GC Umgebungen kein Problem mehr. </a:t>
            </a:r>
          </a:p>
          <a:p>
            <a:pPr lvl="1">
              <a:lnSpc>
                <a:spcPct val="90000"/>
              </a:lnSpc>
            </a:pPr>
            <a:endParaRPr lang="de-DE" sz="2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Schlussfolgerungen 3</a:t>
            </a:r>
            <a:endParaRPr lang="de-DE"/>
          </a:p>
        </p:txBody>
      </p:sp>
      <p:sp>
        <p:nvSpPr>
          <p:cNvPr id="1044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343025"/>
            <a:ext cx="8785225" cy="5038725"/>
          </a:xfrm>
        </p:spPr>
        <p:txBody>
          <a:bodyPr/>
          <a:lstStyle/>
          <a:p>
            <a:r>
              <a:rPr lang="en-US"/>
              <a:t>Per </a:t>
            </a:r>
            <a:r>
              <a:rPr lang="en-US" b="1"/>
              <a:t>XSLT </a:t>
            </a:r>
            <a:r>
              <a:rPr lang="en-US"/>
              <a:t>auf XML Datenbasis </a:t>
            </a:r>
          </a:p>
          <a:p>
            <a:pPr lvl="1"/>
            <a:r>
              <a:rPr lang="en-US"/>
              <a:t>Oder RDF Statements: Subject-Predicate-Object/Atom</a:t>
            </a:r>
          </a:p>
          <a:p>
            <a:pPr lvl="1"/>
            <a:r>
              <a:rPr lang="en-US"/>
              <a:t>Besser: dynamic Objects; sind strukturierter </a:t>
            </a:r>
          </a:p>
          <a:p>
            <a:r>
              <a:rPr lang="en-US"/>
              <a:t>Attribute = Relationen zu Atomen</a:t>
            </a:r>
          </a:p>
          <a:p>
            <a:r>
              <a:rPr lang="en-US"/>
              <a:t>Relationen = Zeiger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5491</Words>
  <Application>Microsoft Office PowerPoint</Application>
  <PresentationFormat>On-screen Show (4:3)</PresentationFormat>
  <Paragraphs>833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Wingdings</vt:lpstr>
      <vt:lpstr>Default Design</vt:lpstr>
      <vt:lpstr>.NET Tensor  and Geometric Algebra </vt:lpstr>
      <vt:lpstr>Package Structure</vt:lpstr>
      <vt:lpstr>Mathematical Structures</vt:lpstr>
      <vt:lpstr>Computer Algebra Systems (CAS)</vt:lpstr>
      <vt:lpstr>Computer Algebra Systems (CAS)</vt:lpstr>
      <vt:lpstr>Design Goals </vt:lpstr>
      <vt:lpstr>Controversial Topics</vt:lpstr>
      <vt:lpstr>Controversial Topics</vt:lpstr>
      <vt:lpstr>Lattice Implementations </vt:lpstr>
      <vt:lpstr>Design Alternatives</vt:lpstr>
      <vt:lpstr>Simple Template Method</vt:lpstr>
      <vt:lpstr>Simple Bridge Delegation Pattern</vt:lpstr>
      <vt:lpstr>Full Bridge Delegation Pattern</vt:lpstr>
      <vt:lpstr>Full Bridge Delegation Pattern</vt:lpstr>
      <vt:lpstr>No more Weak Typing </vt:lpstr>
      <vt:lpstr>Strong Typing: double, int, AQuantity</vt:lpstr>
      <vt:lpstr>Object Pooling</vt:lpstr>
      <vt:lpstr>Usage of Arrays</vt:lpstr>
      <vt:lpstr>API-Restriction </vt:lpstr>
      <vt:lpstr>Operator Overloading</vt:lpstr>
      <vt:lpstr>Einheiten </vt:lpstr>
      <vt:lpstr>Units </vt:lpstr>
      <vt:lpstr>Classes for Units </vt:lpstr>
      <vt:lpstr>Classes for Units</vt:lpstr>
      <vt:lpstr>Alternative Unit Implementations</vt:lpstr>
      <vt:lpstr>Implicit Conversion vs. Inheritance</vt:lpstr>
      <vt:lpstr>Conversion complements Inheritance</vt:lpstr>
      <vt:lpstr>Compile-  vs.   Runtime</vt:lpstr>
      <vt:lpstr>Compile- vs.   Runtime</vt:lpstr>
      <vt:lpstr>Invocation Perfomance</vt:lpstr>
      <vt:lpstr>Interval Calculation</vt:lpstr>
      <vt:lpstr>Tensor Multiplication</vt:lpstr>
      <vt:lpstr>Leveled Tensor Operations</vt:lpstr>
      <vt:lpstr>Parallele Ausführung </vt:lpstr>
      <vt:lpstr>Parallele Ausführung</vt:lpstr>
      <vt:lpstr>Generic Implementations</vt:lpstr>
      <vt:lpstr>Konvertierung einschränken</vt:lpstr>
      <vt:lpstr>Alternativen zur Konvertierung</vt:lpstr>
      <vt:lpstr>PowerPoint Presentation</vt:lpstr>
      <vt:lpstr>Ausdrücke erlauben? </vt:lpstr>
      <vt:lpstr>Null/NaN oder Fehler? </vt:lpstr>
      <vt:lpstr>Typsichere Produkte &amp; Quotienten</vt:lpstr>
      <vt:lpstr>PowerPoint Presentation</vt:lpstr>
      <vt:lpstr>Ordnungsrelation in Einheiten</vt:lpstr>
      <vt:lpstr>Kanonisierung im Konstruktor</vt:lpstr>
      <vt:lpstr>‘1’ konvertierbar in ALLE Einheiten?</vt:lpstr>
      <vt:lpstr>Typ- oder Instanz-Parameter?</vt:lpstr>
      <vt:lpstr>Container-Klassen</vt:lpstr>
      <vt:lpstr>Streams (lazy Evaluation)</vt:lpstr>
      <vt:lpstr>PowerPoint Presentation</vt:lpstr>
      <vt:lpstr>Streams of Objects</vt:lpstr>
      <vt:lpstr>Streaming or indexed Access?</vt:lpstr>
      <vt:lpstr>Tensor / Polynom Alternativen</vt:lpstr>
      <vt:lpstr>Entwicklung</vt:lpstr>
      <vt:lpstr>Mul   vs.   Map </vt:lpstr>
      <vt:lpstr>Variablen &amp; Scalar Product</vt:lpstr>
      <vt:lpstr>Skalar-Produkt</vt:lpstr>
      <vt:lpstr>Variablen-Ersetzung: </vt:lpstr>
      <vt:lpstr>Expression Representation</vt:lpstr>
      <vt:lpstr>Expression Representation</vt:lpstr>
      <vt:lpstr>PowerPoint Presentation</vt:lpstr>
      <vt:lpstr>Welche atomaren Operatoren?</vt:lpstr>
      <vt:lpstr>Vermischen von Zahlen und Booleschen Ausdrücken</vt:lpstr>
      <vt:lpstr>Boolesche Bereiche:</vt:lpstr>
      <vt:lpstr>Boolesche Bereiche:</vt:lpstr>
      <vt:lpstr>Symbolische Operationen</vt:lpstr>
      <vt:lpstr>Symbolische Operationen</vt:lpstr>
      <vt:lpstr>Funktionen als Einheiten</vt:lpstr>
      <vt:lpstr>PowerPoint Presentation</vt:lpstr>
      <vt:lpstr>Ausdrücke in Code umwandeln</vt:lpstr>
      <vt:lpstr>Parser: </vt:lpstr>
      <vt:lpstr>Factory Methods for Expression Trees</vt:lpstr>
      <vt:lpstr>Linq-Expression&lt;Func&lt;R,P1,P2…&gt; </vt:lpstr>
      <vt:lpstr>Linq-Expression&lt;Func&lt;R,P1,P2…&gt; </vt:lpstr>
      <vt:lpstr>Linq-Expression&lt;Func&lt;R,P1,P2…&gt; </vt:lpstr>
      <vt:lpstr>Stream Interface</vt:lpstr>
      <vt:lpstr>Pipes &amp; Filters mit …</vt:lpstr>
      <vt:lpstr>Synch  Asynch</vt:lpstr>
      <vt:lpstr>Impedanz, Latenz &amp; Bandbreite</vt:lpstr>
      <vt:lpstr>Informations- Organisation</vt:lpstr>
      <vt:lpstr>Mächtigkeit des Kalküls</vt:lpstr>
      <vt:lpstr>IStreamIn_&lt;T&gt;</vt:lpstr>
      <vt:lpstr>IStreamOut&lt;T&gt;</vt:lpstr>
      <vt:lpstr>Language Grammars </vt:lpstr>
      <vt:lpstr>Functional Languages</vt:lpstr>
      <vt:lpstr>Functional Syntax vs. Object-O.</vt:lpstr>
      <vt:lpstr>Platform Strategy</vt:lpstr>
      <vt:lpstr>What’s Next? </vt:lpstr>
      <vt:lpstr>Symbolic Operations</vt:lpstr>
      <vt:lpstr>What’s Next?</vt:lpstr>
      <vt:lpstr>Schlussfolgerungen </vt:lpstr>
      <vt:lpstr>Schlussfolgerungen 2</vt:lpstr>
      <vt:lpstr>Schlussfolgerungen 3</vt:lpstr>
    </vt:vector>
  </TitlesOfParts>
  <Company>Cambridge Technology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Matthias Heuer</dc:creator>
  <cp:lastModifiedBy>Heuer, Matthias</cp:lastModifiedBy>
  <cp:revision>414</cp:revision>
  <dcterms:created xsi:type="dcterms:W3CDTF">2002-03-17T14:22:53Z</dcterms:created>
  <dcterms:modified xsi:type="dcterms:W3CDTF">2026-04-27T19:33:29Z</dcterms:modified>
</cp:coreProperties>
</file>